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9" r:id="rId4"/>
    <p:sldId id="258" r:id="rId5"/>
    <p:sldId id="260" r:id="rId6"/>
    <p:sldId id="261" r:id="rId7"/>
    <p:sldId id="263" r:id="rId8"/>
    <p:sldId id="262" r:id="rId9"/>
    <p:sldId id="264" r:id="rId10"/>
    <p:sldId id="265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7" autoAdjust="0"/>
    <p:restoredTop sz="71152" autoAdjust="0"/>
  </p:normalViewPr>
  <p:slideViewPr>
    <p:cSldViewPr snapToGrid="0">
      <p:cViewPr varScale="1">
        <p:scale>
          <a:sx n="40" d="100"/>
          <a:sy n="40" d="100"/>
        </p:scale>
        <p:origin x="48" y="90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E30FB7C1-F041-7638-8E24-AFEBBE468B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488FC9B-CCD3-76B3-2C69-392C49981EB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1D968E-2768-4074-B43C-85F633413C98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A591BE2-2D77-C816-06F9-E7A2C5F17CF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891B429-0766-2A31-6C46-85A8FAF6E17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B23604-9DE1-40EA-9E14-0C1D4277FB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6583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F366DC-28EE-45B4-8F25-D8E908DAD864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2EE5CF-AB58-4962-B2A9-E48FA4BAD8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308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안녕하십니까</a:t>
            </a:r>
            <a:r>
              <a:rPr lang="en-US" altLang="ko-KR" dirty="0"/>
              <a:t>? </a:t>
            </a:r>
            <a:r>
              <a:rPr lang="ko-KR" altLang="en-US" dirty="0"/>
              <a:t>지금부터 전기차 생산 공정별 불량 검출 자동화 시스템 구축을 주제로 발표 시작하겠습니다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E5CF-AB58-4962-B2A9-E48FA4BAD87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2913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목차는 크게 주제 선정 및 배경</a:t>
            </a:r>
            <a:r>
              <a:rPr lang="en-US" altLang="ko-KR" dirty="0"/>
              <a:t>, </a:t>
            </a:r>
            <a:r>
              <a:rPr lang="ko-KR" altLang="en-US" dirty="0"/>
              <a:t>설계 목표</a:t>
            </a:r>
            <a:r>
              <a:rPr lang="en-US" altLang="ko-KR" dirty="0"/>
              <a:t>, </a:t>
            </a:r>
            <a:r>
              <a:rPr lang="ko-KR" altLang="en-US" dirty="0"/>
              <a:t>기대 효과 및 향후계획 순으로 발표 진행하겠습니다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E5CF-AB58-4962-B2A9-E48FA4BAD87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53980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 주제 선정 및 배경입니다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E5CF-AB58-4962-B2A9-E48FA4BAD87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4290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저희는 주제를 선정하기 전 시장성 분석을 통해 저희가 목표로 할 시장을 탐색해 보았습니다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시장성 분석은 전체 시장</a:t>
            </a:r>
            <a:r>
              <a:rPr lang="en-US" altLang="ko-KR" dirty="0"/>
              <a:t>, </a:t>
            </a:r>
            <a:r>
              <a:rPr lang="ko-KR" altLang="en-US" dirty="0"/>
              <a:t>유효 시장</a:t>
            </a:r>
            <a:r>
              <a:rPr lang="en-US" altLang="ko-KR" dirty="0"/>
              <a:t>, </a:t>
            </a:r>
            <a:r>
              <a:rPr lang="ko-KR" altLang="en-US" dirty="0"/>
              <a:t>수익 시장으로 </a:t>
            </a:r>
            <a:r>
              <a:rPr lang="en-US" altLang="ko-KR" dirty="0"/>
              <a:t>3</a:t>
            </a:r>
            <a:r>
              <a:rPr lang="ko-KR" altLang="en-US" dirty="0"/>
              <a:t>단계에 걸쳐 진행하였습니다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먼저 전체 시장인 글로벌 전기차 시장입니다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글로벌 전기차 시장 규모 그래프에 따르면 </a:t>
            </a:r>
            <a:r>
              <a:rPr lang="en-US" altLang="ko-KR" dirty="0"/>
              <a:t>2022</a:t>
            </a:r>
            <a:r>
              <a:rPr lang="ko-KR" altLang="en-US" dirty="0"/>
              <a:t>년 </a:t>
            </a:r>
            <a:r>
              <a:rPr lang="en-US" altLang="ko-KR" dirty="0"/>
              <a:t>1312</a:t>
            </a:r>
            <a:r>
              <a:rPr lang="ko-KR" altLang="en-US" dirty="0"/>
              <a:t>만 대에서 </a:t>
            </a:r>
            <a:r>
              <a:rPr lang="en-US" altLang="ko-KR" dirty="0"/>
              <a:t>2030</a:t>
            </a:r>
            <a:r>
              <a:rPr lang="ko-KR" altLang="en-US" dirty="0"/>
              <a:t>년 </a:t>
            </a:r>
            <a:r>
              <a:rPr lang="en-US" altLang="ko-KR" dirty="0"/>
              <a:t>6130</a:t>
            </a:r>
            <a:r>
              <a:rPr lang="ko-KR" altLang="en-US" dirty="0"/>
              <a:t>만 대로 시장 규모가 확대하는 추세를 보이고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또 탄소중립 </a:t>
            </a:r>
            <a:r>
              <a:rPr lang="en-US" altLang="ko-KR" dirty="0"/>
              <a:t>/ </a:t>
            </a:r>
            <a:r>
              <a:rPr lang="ko-KR" altLang="en-US" dirty="0"/>
              <a:t>전동화라는 메가 트렌드로 유럽연합은 </a:t>
            </a:r>
            <a:r>
              <a:rPr lang="en-US" altLang="ko-KR" dirty="0"/>
              <a:t>2035</a:t>
            </a:r>
            <a:r>
              <a:rPr lang="ko-KR" altLang="en-US" dirty="0"/>
              <a:t>년부터 </a:t>
            </a:r>
            <a:r>
              <a:rPr lang="en-US" altLang="ko-KR" dirty="0"/>
              <a:t>27</a:t>
            </a:r>
            <a:r>
              <a:rPr lang="ko-KR" altLang="en-US" dirty="0"/>
              <a:t>개 회원국에서 휘발유 등 내연기관 차량 판매를 금지하는 방안을 확정하였고</a:t>
            </a:r>
            <a:r>
              <a:rPr lang="en-US" altLang="ko-KR" dirty="0"/>
              <a:t>, </a:t>
            </a:r>
            <a:r>
              <a:rPr lang="ko-KR" altLang="en-US" dirty="0"/>
              <a:t>유럽은 현재 연평균 </a:t>
            </a:r>
            <a:r>
              <a:rPr lang="en-US" altLang="ko-KR" dirty="0"/>
              <a:t>CO₂ </a:t>
            </a:r>
            <a:r>
              <a:rPr lang="ko-KR" altLang="en-US" dirty="0"/>
              <a:t>배출량 목표치 </a:t>
            </a:r>
            <a:r>
              <a:rPr lang="en-US" altLang="ko-KR" dirty="0"/>
              <a:t>95g/km</a:t>
            </a:r>
            <a:r>
              <a:rPr lang="ko-KR" altLang="en-US" dirty="0"/>
              <a:t>를 기준으로 초과 시마다 모든 신규 차량에 </a:t>
            </a:r>
            <a:r>
              <a:rPr lang="en-US" altLang="ko-KR" dirty="0"/>
              <a:t>1g/km </a:t>
            </a:r>
            <a:r>
              <a:rPr lang="ko-KR" altLang="en-US" dirty="0"/>
              <a:t>당 </a:t>
            </a:r>
            <a:r>
              <a:rPr lang="en-US" altLang="ko-KR" dirty="0"/>
              <a:t>95</a:t>
            </a:r>
            <a:r>
              <a:rPr lang="ko-KR" altLang="en-US" dirty="0"/>
              <a:t>유로의 과징금을 부과하고 있으나 기준을 </a:t>
            </a:r>
            <a:r>
              <a:rPr lang="en-US" altLang="ko-KR" dirty="0"/>
              <a:t>5</a:t>
            </a:r>
            <a:r>
              <a:rPr lang="ko-KR" altLang="en-US" dirty="0"/>
              <a:t>년 주기로 강화하여 </a:t>
            </a:r>
            <a:r>
              <a:rPr lang="en-US" altLang="ko-KR" dirty="0"/>
              <a:t>2025</a:t>
            </a:r>
            <a:r>
              <a:rPr lang="ko-KR" altLang="en-US" dirty="0"/>
              <a:t>년에는 </a:t>
            </a:r>
            <a:r>
              <a:rPr lang="en-US" altLang="ko-KR" dirty="0"/>
              <a:t>81g/km, 2030</a:t>
            </a:r>
            <a:r>
              <a:rPr lang="ko-KR" altLang="en-US" dirty="0"/>
              <a:t>년에는 </a:t>
            </a:r>
            <a:r>
              <a:rPr lang="en-US" altLang="ko-KR" dirty="0"/>
              <a:t>57g/km </a:t>
            </a:r>
            <a:r>
              <a:rPr lang="ko-KR" altLang="en-US" dirty="0"/>
              <a:t>초과 시 과징금을 부과할 계획으로 자동차 </a:t>
            </a:r>
            <a:r>
              <a:rPr lang="en-US" altLang="ko-KR" dirty="0"/>
              <a:t>CO₂ </a:t>
            </a:r>
            <a:r>
              <a:rPr lang="ko-KR" altLang="en-US" dirty="0"/>
              <a:t>배출 및 연비 규제도 점차 강화되고 있습니다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미국 캘리포니아 주의 경우 </a:t>
            </a:r>
            <a:r>
              <a:rPr lang="en-US" altLang="ko-KR" dirty="0"/>
              <a:t>2035</a:t>
            </a:r>
            <a:r>
              <a:rPr lang="ko-KR" altLang="en-US" dirty="0"/>
              <a:t>년까지 내연기관 신차 판매를 금지하기로 했으며</a:t>
            </a:r>
            <a:r>
              <a:rPr lang="en-US" altLang="ko-KR" dirty="0"/>
              <a:t>, </a:t>
            </a:r>
            <a:r>
              <a:rPr lang="ko-KR" altLang="en-US" dirty="0"/>
              <a:t>향후 캘리포니아의 배출 규정을 벤치마크 하는 </a:t>
            </a:r>
            <a:r>
              <a:rPr lang="en-US" altLang="ko-KR" dirty="0"/>
              <a:t>15</a:t>
            </a:r>
            <a:r>
              <a:rPr lang="ko-KR" altLang="en-US" dirty="0"/>
              <a:t>개 이상의 주도 영향을 받을 것으로 보입니다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따라서 내연기관차의 잔존가치는 낮아지는 반면</a:t>
            </a:r>
            <a:r>
              <a:rPr lang="en-US" altLang="ko-KR" dirty="0"/>
              <a:t>, </a:t>
            </a:r>
            <a:r>
              <a:rPr lang="ko-KR" altLang="en-US" dirty="0"/>
              <a:t>글로벌 탄소중립 달성에 필수 요소인 전기차는 시장 가치가 지속 상승하고 경기 하락에 대한 </a:t>
            </a:r>
            <a:r>
              <a:rPr lang="ko-KR" altLang="en-US" dirty="0" err="1"/>
              <a:t>회복성</a:t>
            </a:r>
            <a:r>
              <a:rPr lang="en-US" altLang="ko-KR" dirty="0"/>
              <a:t>(Resilient)</a:t>
            </a:r>
            <a:r>
              <a:rPr lang="ko-KR" altLang="en-US" dirty="0"/>
              <a:t>도 가지고 있기 때문에 전기차 시장은 구조적으로 성장할 수밖에 없는 것입니다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E5CF-AB58-4962-B2A9-E48FA4BAD87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76177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4DE24-47B9-3748-5EA4-056348638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C59F9D7-2B20-C8C6-6525-274B2D5E9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81E86C-F38E-4A0A-E7C3-C3A61978D5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유효 시장인 국내 기업 전기차 시장입니다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아래 글로벌 전기차 수출 순위를 보았을 때 한국의 전기차 수출액은 </a:t>
            </a:r>
            <a:r>
              <a:rPr lang="en-US" altLang="ko-KR" dirty="0"/>
              <a:t>2019</a:t>
            </a:r>
            <a:r>
              <a:rPr lang="ko-KR" altLang="en-US" dirty="0"/>
              <a:t>년 약 </a:t>
            </a:r>
            <a:r>
              <a:rPr lang="en-US" altLang="ko-KR" dirty="0"/>
              <a:t>33</a:t>
            </a:r>
            <a:r>
              <a:rPr lang="ko-KR" altLang="en-US" dirty="0"/>
              <a:t>억 달러에서 </a:t>
            </a:r>
            <a:r>
              <a:rPr lang="en-US" altLang="ko-KR" dirty="0"/>
              <a:t>2021</a:t>
            </a:r>
            <a:r>
              <a:rPr lang="ko-KR" altLang="en-US" dirty="0"/>
              <a:t>년 약 </a:t>
            </a:r>
            <a:r>
              <a:rPr lang="en-US" altLang="ko-KR" dirty="0"/>
              <a:t>70</a:t>
            </a:r>
            <a:r>
              <a:rPr lang="ko-KR" altLang="en-US" dirty="0"/>
              <a:t>억 달러로 </a:t>
            </a:r>
            <a:r>
              <a:rPr lang="en-US" altLang="ko-KR" dirty="0"/>
              <a:t>112.2% </a:t>
            </a:r>
            <a:r>
              <a:rPr lang="ko-KR" altLang="en-US" dirty="0"/>
              <a:t>증가하며 </a:t>
            </a:r>
            <a:r>
              <a:rPr lang="en-US" altLang="ko-KR" dirty="0"/>
              <a:t>4</a:t>
            </a:r>
            <a:r>
              <a:rPr lang="ko-KR" altLang="en-US" dirty="0"/>
              <a:t>위에 위치하여 있고 한국의 연도별 전기차 수출액을 보았을 때 </a:t>
            </a:r>
            <a:r>
              <a:rPr lang="en-US" altLang="ko-KR" dirty="0"/>
              <a:t>2018</a:t>
            </a:r>
            <a:r>
              <a:rPr lang="ko-KR" altLang="en-US" dirty="0"/>
              <a:t>년부터 </a:t>
            </a:r>
            <a:r>
              <a:rPr lang="en-US" altLang="ko-KR" dirty="0"/>
              <a:t>2022</a:t>
            </a:r>
            <a:r>
              <a:rPr lang="ko-KR" altLang="en-US" dirty="0"/>
              <a:t>년까지 증가하는 추세를 보이고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이후 한국 전기차 시장 규모 그래프에 따라 </a:t>
            </a:r>
            <a:r>
              <a:rPr lang="en-US" altLang="ko-KR" dirty="0"/>
              <a:t>2024</a:t>
            </a:r>
            <a:r>
              <a:rPr lang="ko-KR" altLang="en-US" dirty="0"/>
              <a:t>년 약 </a:t>
            </a:r>
            <a:r>
              <a:rPr lang="en-US" altLang="ko-KR" dirty="0"/>
              <a:t>168</a:t>
            </a:r>
            <a:r>
              <a:rPr lang="ko-KR" altLang="en-US" dirty="0"/>
              <a:t>억 달러에서 </a:t>
            </a:r>
            <a:r>
              <a:rPr lang="en-US" altLang="ko-KR" dirty="0"/>
              <a:t>2035</a:t>
            </a:r>
            <a:r>
              <a:rPr lang="ko-KR" altLang="en-US" dirty="0"/>
              <a:t>년 약 </a:t>
            </a:r>
            <a:r>
              <a:rPr lang="en-US" altLang="ko-KR" dirty="0"/>
              <a:t>2669</a:t>
            </a:r>
            <a:r>
              <a:rPr lang="ko-KR" altLang="en-US" dirty="0"/>
              <a:t>억 달러로 약 </a:t>
            </a:r>
            <a:r>
              <a:rPr lang="en-US" altLang="ko-KR" dirty="0"/>
              <a:t>28.61%</a:t>
            </a:r>
            <a:r>
              <a:rPr lang="ko-KR" altLang="en-US" dirty="0"/>
              <a:t>의 연평균 성장률을 기록할 것이라고 예상됩니다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따라서 글로벌 시장 규모 확대에 따라 국내 시장 규모도 비례 관계를 가지며 성장하고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9CA31A-996B-0886-728B-F38C7082D0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E5CF-AB58-4962-B2A9-E48FA4BAD87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863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21A03-7272-C8B6-AAA8-8A2D95C6F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861CFF-F12E-E5D2-07E2-54754C135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43748E-E6A9-EA0D-3A1C-A82441E3A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마지막으로 수익 시장인 현대 전기차 시장입니다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연간 누적 글로벌 전기차 </a:t>
            </a:r>
            <a:r>
              <a:rPr lang="ko-KR" altLang="en-US" dirty="0" err="1"/>
              <a:t>인도량</a:t>
            </a:r>
            <a:r>
              <a:rPr lang="ko-KR" altLang="en-US" dirty="0"/>
              <a:t> 그래프에 따르면 여러 나라의 기업들 중 </a:t>
            </a:r>
            <a:r>
              <a:rPr lang="ko-KR" altLang="en-US" dirty="0" err="1"/>
              <a:t>현대기아차그룹이</a:t>
            </a:r>
            <a:r>
              <a:rPr lang="ko-KR" altLang="en-US" dirty="0"/>
              <a:t> </a:t>
            </a:r>
            <a:r>
              <a:rPr lang="en-US" altLang="ko-KR" dirty="0"/>
              <a:t>2025</a:t>
            </a:r>
            <a:r>
              <a:rPr lang="ko-KR" altLang="en-US" dirty="0"/>
              <a:t>년 상반기 기준 </a:t>
            </a:r>
            <a:r>
              <a:rPr lang="en-US" altLang="ko-KR" dirty="0"/>
              <a:t>29</a:t>
            </a:r>
            <a:r>
              <a:rPr lang="ko-KR" altLang="en-US" dirty="0"/>
              <a:t>만 </a:t>
            </a:r>
            <a:r>
              <a:rPr lang="en-US" altLang="ko-KR" dirty="0"/>
              <a:t>6</a:t>
            </a:r>
            <a:r>
              <a:rPr lang="ko-KR" altLang="en-US" dirty="0"/>
              <a:t>천 대에서 </a:t>
            </a:r>
            <a:r>
              <a:rPr lang="en-US" altLang="ko-KR" dirty="0"/>
              <a:t>2026</a:t>
            </a:r>
            <a:r>
              <a:rPr lang="ko-KR" altLang="en-US" dirty="0"/>
              <a:t>년 상반기에 전년 대비 </a:t>
            </a:r>
            <a:r>
              <a:rPr lang="en-US" altLang="ko-KR" dirty="0"/>
              <a:t>25.3% </a:t>
            </a:r>
            <a:r>
              <a:rPr lang="ko-KR" altLang="en-US" dirty="0"/>
              <a:t>성장하며 연간 누적 </a:t>
            </a:r>
            <a:r>
              <a:rPr lang="ko-KR" altLang="en-US" dirty="0" err="1"/>
              <a:t>인도량</a:t>
            </a:r>
            <a:r>
              <a:rPr lang="ko-KR" altLang="en-US" dirty="0"/>
              <a:t> </a:t>
            </a:r>
            <a:r>
              <a:rPr lang="en-US" altLang="ko-KR" dirty="0"/>
              <a:t>8</a:t>
            </a:r>
            <a:r>
              <a:rPr lang="ko-KR" altLang="en-US" dirty="0"/>
              <a:t>위를 달성하였습니다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또</a:t>
            </a:r>
            <a:r>
              <a:rPr lang="en-US" altLang="ko-KR" dirty="0"/>
              <a:t>, </a:t>
            </a:r>
            <a:r>
              <a:rPr lang="ko-KR" altLang="en-US" dirty="0"/>
              <a:t>현대차는 </a:t>
            </a:r>
            <a:r>
              <a:rPr lang="en-US" altLang="ko-KR" dirty="0"/>
              <a:t>2020</a:t>
            </a:r>
            <a:r>
              <a:rPr lang="ko-KR" altLang="en-US" dirty="0"/>
              <a:t>년 </a:t>
            </a:r>
            <a:r>
              <a:rPr lang="en-US" altLang="ko-KR" dirty="0"/>
              <a:t>12</a:t>
            </a:r>
            <a:r>
              <a:rPr lang="ko-KR" altLang="en-US" dirty="0"/>
              <a:t>월에 </a:t>
            </a:r>
            <a:r>
              <a:rPr lang="en-US" altLang="ko-KR" dirty="0"/>
              <a:t>CEO </a:t>
            </a:r>
            <a:r>
              <a:rPr lang="ko-KR" altLang="en-US" dirty="0" err="1"/>
              <a:t>인베스터</a:t>
            </a:r>
            <a:r>
              <a:rPr lang="ko-KR" altLang="en-US" dirty="0"/>
              <a:t> </a:t>
            </a:r>
            <a:r>
              <a:rPr lang="ko-KR" altLang="en-US" dirty="0" err="1"/>
              <a:t>데이를</a:t>
            </a:r>
            <a:r>
              <a:rPr lang="ko-KR" altLang="en-US" dirty="0"/>
              <a:t> 열어 핵심 미래사업 전략으로 </a:t>
            </a:r>
            <a:r>
              <a:rPr lang="en-US" altLang="ko-KR" dirty="0"/>
              <a:t>2040</a:t>
            </a:r>
            <a:r>
              <a:rPr lang="ko-KR" altLang="en-US" dirty="0"/>
              <a:t>년까지 미국과 유럽</a:t>
            </a:r>
            <a:r>
              <a:rPr lang="en-US" altLang="ko-KR" dirty="0"/>
              <a:t>, </a:t>
            </a:r>
            <a:r>
              <a:rPr lang="ko-KR" altLang="en-US" dirty="0"/>
              <a:t>중국 등 글로벌 주요 시장에서 제품 전 라인업의 전동화를 추진하고 현대차의 전기차 비중은 </a:t>
            </a:r>
            <a:r>
              <a:rPr lang="en-US" altLang="ko-KR" dirty="0"/>
              <a:t>2020</a:t>
            </a:r>
            <a:r>
              <a:rPr lang="ko-KR" altLang="en-US" dirty="0"/>
              <a:t>년 </a:t>
            </a:r>
            <a:r>
              <a:rPr lang="en-US" altLang="ko-KR" dirty="0"/>
              <a:t>5.6%</a:t>
            </a:r>
            <a:r>
              <a:rPr lang="ko-KR" altLang="en-US" dirty="0"/>
              <a:t>에서 </a:t>
            </a:r>
            <a:r>
              <a:rPr lang="en-US" altLang="ko-KR" dirty="0"/>
              <a:t>2030</a:t>
            </a:r>
            <a:r>
              <a:rPr lang="ko-KR" altLang="en-US" dirty="0"/>
              <a:t>년 </a:t>
            </a:r>
            <a:r>
              <a:rPr lang="en-US" altLang="ko-KR" dirty="0"/>
              <a:t>19%, 2035</a:t>
            </a:r>
            <a:r>
              <a:rPr lang="ko-KR" altLang="en-US" dirty="0"/>
              <a:t>년 </a:t>
            </a:r>
            <a:r>
              <a:rPr lang="en-US" altLang="ko-KR" dirty="0"/>
              <a:t>46%</a:t>
            </a:r>
            <a:r>
              <a:rPr lang="ko-KR" altLang="en-US" dirty="0"/>
              <a:t>로 점진적으로 확대해 </a:t>
            </a:r>
            <a:r>
              <a:rPr lang="en-US" altLang="ko-KR" dirty="0"/>
              <a:t>2040</a:t>
            </a:r>
            <a:r>
              <a:rPr lang="ko-KR" altLang="en-US" dirty="0"/>
              <a:t>년에는 </a:t>
            </a:r>
            <a:r>
              <a:rPr lang="en-US" altLang="ko-KR" dirty="0"/>
              <a:t>78%</a:t>
            </a:r>
            <a:r>
              <a:rPr lang="ko-KR" altLang="en-US" dirty="0"/>
              <a:t>까지 끌어올릴 계획을 발표하였습니다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따라서</a:t>
            </a:r>
            <a:r>
              <a:rPr lang="en-US" altLang="ko-KR" dirty="0"/>
              <a:t>, </a:t>
            </a:r>
            <a:r>
              <a:rPr lang="ko-KR" altLang="en-US" dirty="0"/>
              <a:t>현대차의 전기차 시장 규모가 증가할 것을 예상하여 저희는 전기차 시장 규모 성장에 따라 제품 전 라인업 전동화 추진이라는 현대차의 핵심 미래사업 전략에 맞춰 주제를 전기차 생산 공정별 불량 검출 자동화 시스템 구축으로 선정하였습니다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8142BC-F400-B087-4F84-9895ECA9CF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E5CF-AB58-4962-B2A9-E48FA4BAD87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05085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다음으로 설계 목표입니다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E5CF-AB58-4962-B2A9-E48FA4BAD87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6630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DD0D1-3BE6-4AEA-D827-EEDBF201C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78A9076-D934-EE3D-DB6D-BE6A9802D0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9F826A-D527-2999-E83F-DE7D178403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저희가 설계할 공정의 흐름도입니다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해당 공정의 공통 사항으로는 모든 불량판정은 </a:t>
            </a:r>
            <a:r>
              <a:rPr lang="en-US" altLang="ko-KR" dirty="0"/>
              <a:t>5</a:t>
            </a:r>
            <a:r>
              <a:rPr lang="ko-KR" altLang="en-US" dirty="0"/>
              <a:t>초 미만대로 진행할 것</a:t>
            </a:r>
            <a:r>
              <a:rPr lang="en-US" altLang="ko-KR" dirty="0"/>
              <a:t>, </a:t>
            </a:r>
            <a:r>
              <a:rPr lang="ko-KR" altLang="en-US" dirty="0"/>
              <a:t>불량판정은 정지하여 모델 전체를 확인하는 방식을 조건으로 하였고 공정에 대한 설명은 각각 </a:t>
            </a:r>
            <a:r>
              <a:rPr lang="en-US" altLang="ko-KR" dirty="0"/>
              <a:t>1</a:t>
            </a:r>
            <a:r>
              <a:rPr lang="ko-KR" altLang="en-US" dirty="0"/>
              <a:t>차</a:t>
            </a:r>
            <a:r>
              <a:rPr lang="en-US" altLang="ko-KR" dirty="0"/>
              <a:t>, 2</a:t>
            </a:r>
            <a:r>
              <a:rPr lang="ko-KR" altLang="en-US" dirty="0"/>
              <a:t>차</a:t>
            </a:r>
            <a:r>
              <a:rPr lang="en-US" altLang="ko-KR" dirty="0"/>
              <a:t>, 3</a:t>
            </a:r>
            <a:r>
              <a:rPr lang="ko-KR" altLang="en-US" dirty="0"/>
              <a:t>차로 나누어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72F807-B067-86A7-03E6-66F0B240D1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E5CF-AB58-4962-B2A9-E48FA4BAD87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9752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93C8A-E8E5-7310-26E0-314DD9414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00594D-39D3-62FA-F9AD-2B04C2A99B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FFAC33-4C60-621D-5CDB-5EBD1C2A4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 </a:t>
            </a:r>
            <a:r>
              <a:rPr lang="en-US" altLang="ko-KR" dirty="0"/>
              <a:t>1</a:t>
            </a:r>
            <a:r>
              <a:rPr lang="ko-KR" altLang="en-US" dirty="0"/>
              <a:t>차 공정입니다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차 공정에서는 배터리 팩 커버가 컨베이어로 이송되면서 </a:t>
            </a:r>
            <a:r>
              <a:rPr lang="en-US" altLang="ko-KR" dirty="0"/>
              <a:t>1</a:t>
            </a:r>
            <a:r>
              <a:rPr lang="ko-KR" altLang="en-US" dirty="0"/>
              <a:t>차 불량판정이 진행되고 이후 정상 제품이 </a:t>
            </a:r>
            <a:r>
              <a:rPr lang="ko-KR" altLang="en-US" dirty="0" err="1"/>
              <a:t>로봇팔이</a:t>
            </a:r>
            <a:r>
              <a:rPr lang="ko-KR" altLang="en-US" dirty="0"/>
              <a:t> 있는 위치까지 도달하게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동시에 전극 </a:t>
            </a:r>
            <a:r>
              <a:rPr lang="en-US" altLang="ko-KR" dirty="0"/>
              <a:t>-&gt; </a:t>
            </a:r>
            <a:r>
              <a:rPr lang="ko-KR" altLang="en-US" dirty="0"/>
              <a:t>조립 </a:t>
            </a:r>
            <a:r>
              <a:rPr lang="en-US" altLang="ko-KR" dirty="0"/>
              <a:t>-&gt; </a:t>
            </a:r>
            <a:r>
              <a:rPr lang="ko-KR" altLang="en-US" dirty="0"/>
              <a:t>활성화공정을 마친 배터리 셀을 </a:t>
            </a:r>
            <a:r>
              <a:rPr lang="ko-KR" altLang="en-US" dirty="0" err="1"/>
              <a:t>모듈화시키고</a:t>
            </a:r>
            <a:r>
              <a:rPr lang="ko-KR" altLang="en-US" dirty="0"/>
              <a:t> 팩으로 조립된 부품이 </a:t>
            </a:r>
            <a:r>
              <a:rPr lang="en-US" altLang="ko-KR" dirty="0"/>
              <a:t>AGV </a:t>
            </a:r>
            <a:r>
              <a:rPr lang="ko-KR" altLang="en-US" dirty="0"/>
              <a:t>위에 적재된 상태로 이동해 해당 위치에 도착하게 되면 </a:t>
            </a:r>
            <a:r>
              <a:rPr lang="ko-KR" altLang="en-US" dirty="0" err="1"/>
              <a:t>로봇팔이</a:t>
            </a:r>
            <a:r>
              <a:rPr lang="ko-KR" altLang="en-US" dirty="0"/>
              <a:t> 배터리 팩 커버를 부착하고 배터리 팩 완성품에 대해 </a:t>
            </a:r>
            <a:r>
              <a:rPr lang="en-US" altLang="ko-KR" dirty="0"/>
              <a:t>2</a:t>
            </a:r>
            <a:r>
              <a:rPr lang="ko-KR" altLang="en-US" dirty="0"/>
              <a:t>차 불량판정을 진행합니다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불량이 검출되지 않았을 경우 </a:t>
            </a:r>
            <a:r>
              <a:rPr lang="en-US" altLang="ko-KR" dirty="0"/>
              <a:t>2</a:t>
            </a:r>
            <a:r>
              <a:rPr lang="ko-KR" altLang="en-US" dirty="0"/>
              <a:t>차 공정으로 이동합니다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해당 공정에서 </a:t>
            </a:r>
            <a:r>
              <a:rPr lang="en-US" altLang="ko-KR" dirty="0"/>
              <a:t>ICCU </a:t>
            </a:r>
            <a:r>
              <a:rPr lang="ko-KR" altLang="en-US" dirty="0"/>
              <a:t>내부 기능 결함 검사도 실시할 계획으로 먼저 </a:t>
            </a:r>
            <a:r>
              <a:rPr lang="en-US" altLang="ko-KR" dirty="0"/>
              <a:t>ICCU</a:t>
            </a:r>
            <a:r>
              <a:rPr lang="ko-KR" altLang="en-US" dirty="0"/>
              <a:t>에 대해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전기차에는 주행에 필요한 전력을 공급하는 고전압 배터리를 충전하는 </a:t>
            </a:r>
            <a:r>
              <a:rPr lang="en-US" altLang="ko-KR" dirty="0"/>
              <a:t>OBC</a:t>
            </a:r>
            <a:r>
              <a:rPr lang="ko-KR" altLang="en-US" dirty="0"/>
              <a:t>와 전조등</a:t>
            </a:r>
            <a:r>
              <a:rPr lang="en-US" altLang="ko-KR" dirty="0"/>
              <a:t>, </a:t>
            </a:r>
            <a:r>
              <a:rPr lang="ko-KR" altLang="en-US" dirty="0"/>
              <a:t>차량 내 화면</a:t>
            </a:r>
            <a:r>
              <a:rPr lang="en-US" altLang="ko-KR" dirty="0"/>
              <a:t>, </a:t>
            </a:r>
            <a:r>
              <a:rPr lang="ko-KR" altLang="en-US" dirty="0"/>
              <a:t>공조기 등에 전력을 공급하는 </a:t>
            </a:r>
            <a:r>
              <a:rPr lang="ko-KR" altLang="en-US" dirty="0" err="1"/>
              <a:t>저전압</a:t>
            </a:r>
            <a:r>
              <a:rPr lang="ko-KR" altLang="en-US" dirty="0"/>
              <a:t> 배터리를 충전하는 </a:t>
            </a:r>
            <a:r>
              <a:rPr lang="en-US" altLang="ko-KR" dirty="0"/>
              <a:t>LDC</a:t>
            </a:r>
            <a:r>
              <a:rPr lang="ko-KR" altLang="en-US" dirty="0"/>
              <a:t>가 있습니다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이에 현대자동차그룹은 전기차에 필요한 부품인 </a:t>
            </a:r>
            <a:r>
              <a:rPr lang="en-US" altLang="ko-KR" dirty="0"/>
              <a:t>OBC</a:t>
            </a:r>
            <a:r>
              <a:rPr lang="ko-KR" altLang="en-US" dirty="0"/>
              <a:t>와 </a:t>
            </a:r>
            <a:r>
              <a:rPr lang="en-US" altLang="ko-KR" dirty="0"/>
              <a:t>LDC</a:t>
            </a:r>
            <a:r>
              <a:rPr lang="ko-KR" altLang="en-US" dirty="0"/>
              <a:t>를 통합한 장치인 </a:t>
            </a:r>
            <a:r>
              <a:rPr lang="en-US" altLang="ko-KR" dirty="0"/>
              <a:t>ICCU </a:t>
            </a:r>
            <a:r>
              <a:rPr lang="ko-KR" altLang="en-US" dirty="0"/>
              <a:t>프로젝트를 진행하여 전기차 전용 플랫폼에 탑재된 </a:t>
            </a:r>
            <a:r>
              <a:rPr lang="en-US" altLang="ko-KR" dirty="0"/>
              <a:t>ICCU</a:t>
            </a:r>
            <a:r>
              <a:rPr lang="ko-KR" altLang="en-US" dirty="0"/>
              <a:t>를 통해 차량의 충전과 전력 변환을 효율적으로 관리합니다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하지만 현대차그룹의 전기차 대부분에 탑재된 </a:t>
            </a:r>
            <a:r>
              <a:rPr lang="en-US" altLang="ko-KR" dirty="0"/>
              <a:t>ICCU</a:t>
            </a:r>
            <a:r>
              <a:rPr lang="ko-KR" altLang="en-US" dirty="0"/>
              <a:t>의 소프트웨어 및 설계 오류로 </a:t>
            </a:r>
            <a:r>
              <a:rPr lang="ko-KR" altLang="en-US" dirty="0" err="1"/>
              <a:t>저전압</a:t>
            </a:r>
            <a:r>
              <a:rPr lang="ko-KR" altLang="en-US" dirty="0"/>
              <a:t> 배터리</a:t>
            </a:r>
            <a:r>
              <a:rPr lang="en-US" altLang="ko-KR" dirty="0"/>
              <a:t>(12V </a:t>
            </a:r>
            <a:r>
              <a:rPr lang="ko-KR" altLang="en-US" dirty="0"/>
              <a:t>보조배터리</a:t>
            </a:r>
            <a:r>
              <a:rPr lang="en-US" altLang="ko-KR" dirty="0"/>
              <a:t>) </a:t>
            </a:r>
            <a:r>
              <a:rPr lang="ko-KR" altLang="en-US" dirty="0"/>
              <a:t>충전이 불가해 주행 중 차량이 멈추는 벽돌현상이 발생하는 결함이 발생하여 리콜이 요구되고 있으므로 해당 공정에서 </a:t>
            </a:r>
            <a:r>
              <a:rPr lang="en-US" altLang="ko-KR" dirty="0"/>
              <a:t>ICCU</a:t>
            </a:r>
            <a:r>
              <a:rPr lang="ko-KR" altLang="en-US" dirty="0"/>
              <a:t>의 결함을 완화시켜 문제점을 해결하고자 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866273-1573-0166-10A7-B55C172C44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E5CF-AB58-4962-B2A9-E48FA4BAD87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64283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29B17-926C-2E64-B103-F1D6C2EAB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93BCC6-03E9-F0C9-D3D3-D067B08DEB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58C04B-41D4-16B6-796F-2ED2ADACEE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</a:t>
            </a:r>
            <a:r>
              <a:rPr lang="en-US" altLang="ko-KR" dirty="0"/>
              <a:t>1</a:t>
            </a:r>
            <a:r>
              <a:rPr lang="ko-KR" altLang="en-US" dirty="0"/>
              <a:t>차 공정에서 조립을 마친 배터리 팩을 전기차 프레임 하부에 결합하여 마지막 </a:t>
            </a:r>
            <a:r>
              <a:rPr lang="en-US" altLang="ko-KR" dirty="0"/>
              <a:t>3</a:t>
            </a:r>
            <a:r>
              <a:rPr lang="ko-KR" altLang="en-US" dirty="0"/>
              <a:t>차 공정으로 이동할 계획입니다</a:t>
            </a:r>
            <a:r>
              <a:rPr lang="en-US" altLang="ko-KR" dirty="0"/>
              <a:t>. </a:t>
            </a:r>
            <a:r>
              <a:rPr lang="ko-KR" altLang="en-US" dirty="0"/>
              <a:t>이전에 진행하였던 배터리 팩 조립 및 불량 검출 자동화 시스템과 자동차 의장 조립 자동화 시스템을 통합시켜 진행하였기 때문에 </a:t>
            </a:r>
            <a:r>
              <a:rPr lang="en-US" altLang="ko-KR" dirty="0"/>
              <a:t>2</a:t>
            </a:r>
            <a:r>
              <a:rPr lang="ko-KR" altLang="en-US" dirty="0"/>
              <a:t>차 공정은 추가 설계를 진행할 계획입니다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마지막으로 </a:t>
            </a:r>
            <a:r>
              <a:rPr lang="en-US" altLang="ko-KR" dirty="0"/>
              <a:t>3</a:t>
            </a:r>
            <a:r>
              <a:rPr lang="ko-KR" altLang="en-US" dirty="0"/>
              <a:t>차 공정에서는 이전 공정을 거친 전기차 프레임을 </a:t>
            </a:r>
            <a:r>
              <a:rPr lang="ko-KR" altLang="en-US" dirty="0" err="1"/>
              <a:t>스키드에</a:t>
            </a:r>
            <a:r>
              <a:rPr lang="ko-KR" altLang="en-US" dirty="0"/>
              <a:t> 적재하여 </a:t>
            </a:r>
            <a:r>
              <a:rPr lang="ko-KR" altLang="en-US" dirty="0" err="1"/>
              <a:t>칵핏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앞 범퍼 </a:t>
            </a:r>
            <a:r>
              <a:rPr lang="en-US" altLang="ko-KR" dirty="0"/>
              <a:t>-&gt; </a:t>
            </a:r>
            <a:r>
              <a:rPr lang="ko-KR" altLang="en-US" dirty="0"/>
              <a:t>앞 유리 </a:t>
            </a:r>
            <a:r>
              <a:rPr lang="en-US" altLang="ko-KR" dirty="0"/>
              <a:t>-&gt; </a:t>
            </a:r>
            <a:r>
              <a:rPr lang="ko-KR" altLang="en-US" dirty="0"/>
              <a:t>문 장착 및 용접 순으로 전기차 의장 조립이 진행되며 각 단계를 나누지 않고 한 번에 완료했을 때 불량이 검출될 경우 어느 단계에서 불량이 발생하였는지 원인을 분석하기 어렵다는 문제점을 해결하고자 불량이 검출되었을 때 바로 피드백이 가능하도록 각 단계 별 불량 판정을 실시하는 것으로 설계하였습니다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A6A260-2A30-A15B-90C6-B36B942A91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E5CF-AB58-4962-B2A9-E48FA4BAD87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193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마지막으로 기대 효과 및 향후 계획입니다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E5CF-AB58-4962-B2A9-E48FA4BAD87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42531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9907B-94C5-213E-1A94-ECDB7A1D5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1A9823-CAF3-5440-4472-0C9200155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C61AFA-F7C3-10F3-DE16-BF2446A12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저희가 설계할 공정으로 얻을 수 있는 기대 효과를 정리해보았습니다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먼저 각 공정에서 실시하는 불량 판정 시스템으로 </a:t>
            </a:r>
            <a:r>
              <a:rPr lang="en-US" altLang="ko-KR" dirty="0"/>
              <a:t>ICCU </a:t>
            </a:r>
            <a:r>
              <a:rPr lang="ko-KR" altLang="en-US" dirty="0"/>
              <a:t>내부 기능 결함과 부품 불량의 조기 검출이 가능하여 불량품의 </a:t>
            </a:r>
            <a:r>
              <a:rPr lang="ko-KR" altLang="en-US" dirty="0" err="1"/>
              <a:t>후공정</a:t>
            </a:r>
            <a:r>
              <a:rPr lang="ko-KR" altLang="en-US" dirty="0"/>
              <a:t> 유입을 방지해 효율을 향상시킬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그리고 자동화 검사로 제품 당 검사 시간이 단축되고 반복 작업이 최소화되며 공정별 검사 데이터를 수집해 불량 발생 원인을 파악할 수 있어 작업 효율이 향상될 것으로 예상됩니다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마지막으로</a:t>
            </a:r>
            <a:r>
              <a:rPr lang="en-US" altLang="ko-KR" dirty="0"/>
              <a:t> </a:t>
            </a:r>
            <a:r>
              <a:rPr lang="ko-KR" altLang="en-US" dirty="0"/>
              <a:t>설비동작 상태를 모니터링하여 이상 신호 발생 시 신속대응이 가능해 설비 고장으로 인한 생산 중단 및 유지보수 비용을 감소시키며 검사 및 조립 </a:t>
            </a:r>
            <a:r>
              <a:rPr lang="ko-KR" altLang="en-US" dirty="0" err="1"/>
              <a:t>불확도</a:t>
            </a:r>
            <a:r>
              <a:rPr lang="ko-KR" altLang="en-US" dirty="0"/>
              <a:t> 감소로 안정적인 생산 환경을 구축할 수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8A08AB-545F-BAE4-DFB4-816708FCBD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E5CF-AB58-4962-B2A9-E48FA4BAD873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8056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FA53E-1806-99DE-3CFC-F742315B2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63B509-50A8-0933-5D4E-93BE951FD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F5FE31-E998-7918-1D7B-9DDFE3A62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해당 팀 프로젝트의 향후 계획을 다음과 같이 </a:t>
            </a:r>
            <a:r>
              <a:rPr lang="ko-KR" altLang="en-US" dirty="0" err="1"/>
              <a:t>간트</a:t>
            </a:r>
            <a:r>
              <a:rPr lang="ko-KR" altLang="en-US" dirty="0"/>
              <a:t> 차트로 정리해보았습니다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우선적으로 크게 </a:t>
            </a:r>
            <a:r>
              <a:rPr lang="en-US" altLang="ko-KR" dirty="0"/>
              <a:t>7</a:t>
            </a:r>
            <a:r>
              <a:rPr lang="ko-KR" altLang="en-US" dirty="0"/>
              <a:t>단계로 나누어 주별 주차별 추진 일정에 맞추어 진행될 계획입니다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16B90B-A9AA-45E5-FBFD-64C42FFD55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E5CF-AB58-4962-B2A9-E48FA4BAD87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09367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이상으로 발표 마치도록 하겠습니다</a:t>
            </a:r>
            <a:r>
              <a:rPr lang="en-US" altLang="ko-KR" dirty="0"/>
              <a:t>. </a:t>
            </a:r>
            <a:r>
              <a:rPr lang="ko-KR" altLang="en-US" dirty="0"/>
              <a:t>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E5CF-AB58-4962-B2A9-E48FA4BAD873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726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DEBDE6-57AB-8492-85A8-25A9875EF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95E8E8-C928-765E-9656-6E204665BF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9C4684-CDCF-62BA-49AA-2A7063168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BB2BE-B0E8-4494-986F-00FA20E41919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2FF2D3-0BDE-D208-59CD-ADC75CCEF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0622DC-E8F5-2F50-FD48-237C60425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470B8-1F8C-4700-A91D-2D6DCD4F86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944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개체 틀 2">
            <a:extLst>
              <a:ext uri="{FF2B5EF4-FFF2-40B4-BE49-F238E27FC236}">
                <a16:creationId xmlns:a16="http://schemas.microsoft.com/office/drawing/2014/main" id="{57719E9A-DDC0-27A9-2A46-352C6791F4EE}"/>
              </a:ext>
            </a:extLst>
          </p:cNvPr>
          <p:cNvSpPr txBox="1">
            <a:spLocks/>
          </p:cNvSpPr>
          <p:nvPr userDrawn="1"/>
        </p:nvSpPr>
        <p:spPr>
          <a:xfrm>
            <a:off x="163903" y="687599"/>
            <a:ext cx="11811582" cy="5527673"/>
          </a:xfrm>
          <a:prstGeom prst="rect">
            <a:avLst/>
          </a:prstGeom>
          <a:solidFill>
            <a:schemeClr val="bg1"/>
          </a:solidFill>
          <a:effectLst>
            <a:glow rad="63500">
              <a:srgbClr val="002060">
                <a:alpha val="40000"/>
              </a:srgbClr>
            </a:glow>
          </a:effectLst>
        </p:spPr>
        <p:txBody>
          <a:bodyPr anchor="t" anchorCtr="0">
            <a:noAutofit/>
          </a:bodyPr>
          <a:lstStyle>
            <a:lvl1pPr marL="228600" indent="-345600" algn="l" defTabSz="914377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FontTx/>
              <a:buBlip>
                <a:blip r:embed="rId2"/>
              </a:buBlip>
              <a:defRPr sz="2000" kern="1200" baseline="0">
                <a:ln w="3175">
                  <a:noFill/>
                </a:ln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94000" indent="-228600" algn="l" defTabSz="914377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6BC7C"/>
              </a:buClr>
              <a:buSzPct val="110000"/>
              <a:buFont typeface="Tahoma" panose="020B0604030504040204" pitchFamily="34" charset="0"/>
              <a:buChar char="•"/>
              <a:defRPr sz="1800" kern="1200">
                <a:ln w="3175">
                  <a:noFill/>
                </a:ln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46000" indent="-228600" algn="l" defTabSz="914377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5000"/>
              <a:buFont typeface="Wingdings" panose="05000000000000000000" pitchFamily="2" charset="2"/>
              <a:buChar char="ü"/>
              <a:defRPr sz="1600" kern="1200">
                <a:ln w="3175">
                  <a:noFill/>
                </a:ln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098000" indent="-228600" algn="l" defTabSz="914377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110000"/>
              <a:buFont typeface="Tahoma" panose="020B0604030504040204" pitchFamily="34" charset="0"/>
              <a:buChar char="‑"/>
              <a:defRPr sz="1400" b="0" kern="1200" baseline="0">
                <a:ln w="3175">
                  <a:noFill/>
                </a:ln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350000" indent="-228594" algn="l" defTabSz="914377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Font typeface="Arial" panose="020B0604020202020204" pitchFamily="34" charset="0"/>
              <a:buChar char="•"/>
              <a:defRPr sz="1200" b="0" kern="1200">
                <a:ln w="3175">
                  <a:noFill/>
                </a:ln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537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1600" dirty="0">
              <a:latin typeface="대한민국정부상징체 R" panose="02020503020101020101" pitchFamily="18" charset="-127"/>
              <a:ea typeface="대한민국정부상징체 R" panose="02020503020101020101" pitchFamily="18" charset="-127"/>
            </a:endParaRPr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5382FAB0-67AA-0E47-2CBD-F578EECED326}"/>
              </a:ext>
            </a:extLst>
          </p:cNvPr>
          <p:cNvSpPr txBox="1">
            <a:spLocks/>
          </p:cNvSpPr>
          <p:nvPr userDrawn="1"/>
        </p:nvSpPr>
        <p:spPr>
          <a:xfrm>
            <a:off x="5406189" y="6356350"/>
            <a:ext cx="1379622" cy="365125"/>
          </a:xfrm>
          <a:prstGeom prst="flowChartDecision">
            <a:avLst/>
          </a:prstGeom>
          <a:solidFill>
            <a:schemeClr val="bg1"/>
          </a:solidFill>
          <a:effectLst>
            <a:glow rad="63500">
              <a:srgbClr val="002060">
                <a:alpha val="40000"/>
              </a:srgbClr>
            </a:glow>
          </a:effectLst>
        </p:spPr>
        <p:txBody>
          <a:bodyPr anchor="ctr" anchorCtr="0">
            <a:noAutofit/>
          </a:bodyPr>
          <a:lstStyle>
            <a:lvl1pPr marL="228600" indent="-345600" algn="l" defTabSz="914377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FontTx/>
              <a:buBlip>
                <a:blip r:embed="rId2"/>
              </a:buBlip>
              <a:defRPr sz="2000" kern="1200" baseline="0">
                <a:ln w="3175">
                  <a:noFill/>
                </a:ln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94000" indent="-228600" algn="l" defTabSz="914377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6BC7C"/>
              </a:buClr>
              <a:buSzPct val="110000"/>
              <a:buFont typeface="Tahoma" panose="020B0604030504040204" pitchFamily="34" charset="0"/>
              <a:buChar char="•"/>
              <a:defRPr sz="1800" kern="1200">
                <a:ln w="3175">
                  <a:noFill/>
                </a:ln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46000" indent="-228600" algn="l" defTabSz="914377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5000"/>
              <a:buFont typeface="Wingdings" panose="05000000000000000000" pitchFamily="2" charset="2"/>
              <a:buChar char="ü"/>
              <a:defRPr sz="1600" kern="1200">
                <a:ln w="3175">
                  <a:noFill/>
                </a:ln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098000" indent="-228600" algn="l" defTabSz="914377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110000"/>
              <a:buFont typeface="Tahoma" panose="020B0604030504040204" pitchFamily="34" charset="0"/>
              <a:buChar char="‑"/>
              <a:defRPr sz="1400" b="0" kern="1200" baseline="0">
                <a:ln w="3175">
                  <a:noFill/>
                </a:ln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350000" indent="-228594" algn="l" defTabSz="914377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Font typeface="Arial" panose="020B0604020202020204" pitchFamily="34" charset="0"/>
              <a:buChar char="•"/>
              <a:defRPr sz="1200" b="0" kern="1200">
                <a:ln w="3175">
                  <a:noFill/>
                </a:ln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537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fld id="{4DEC1FBE-14AE-4025-B1AF-797F1642D71A}" type="slidenum">
              <a:rPr lang="en-US" altLang="ko-KR" sz="11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indent="0" algn="ctr">
                <a:buNone/>
              </a:pPr>
              <a:t>‹#›</a:t>
            </a:fld>
            <a:r>
              <a:rPr lang="en-US" altLang="ko-KR" sz="11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/13</a:t>
            </a: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DF723D1D-CB37-EB42-D4EB-B7C38FD0D244}"/>
              </a:ext>
            </a:extLst>
          </p:cNvPr>
          <p:cNvSpPr/>
          <p:nvPr userDrawn="1"/>
        </p:nvSpPr>
        <p:spPr>
          <a:xfrm>
            <a:off x="0" y="606145"/>
            <a:ext cx="12192000" cy="24094"/>
          </a:xfrm>
          <a:prstGeom prst="rect">
            <a:avLst/>
          </a:prstGeom>
          <a:solidFill>
            <a:srgbClr val="283A74"/>
          </a:solidFill>
          <a:ln>
            <a:solidFill>
              <a:srgbClr val="283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901C4B82-D631-356D-AB72-E09CED2859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3904" y="687600"/>
            <a:ext cx="11811582" cy="5527673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228600" indent="-34560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FontTx/>
              <a:buBlip>
                <a:blip r:embed="rId2"/>
              </a:buBlip>
              <a:defRPr sz="2000" baseline="0">
                <a:ln w="3175">
                  <a:noFill/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94000" indent="-2286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6BC7C"/>
              </a:buClr>
              <a:buSzPct val="110000"/>
              <a:buFont typeface="Tahoma" panose="020B0604030504040204" pitchFamily="34" charset="0"/>
              <a:buChar char="•"/>
              <a:defRPr sz="1800">
                <a:ln w="3175">
                  <a:noFill/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46000" indent="-2286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5000"/>
              <a:buFont typeface="Wingdings" panose="05000000000000000000" pitchFamily="2" charset="2"/>
              <a:buChar char="ü"/>
              <a:defRPr sz="1600">
                <a:ln w="3175">
                  <a:noFill/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098000" indent="-2286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110000"/>
              <a:buFont typeface="Tahoma" panose="020B0604030504040204" pitchFamily="34" charset="0"/>
              <a:buChar char="‑"/>
              <a:defRPr sz="1400" b="0" baseline="0">
                <a:ln w="3175">
                  <a:noFill/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3500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defRPr sz="1200" b="0">
                <a:ln w="3175">
                  <a:noFill/>
                </a:ln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1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  <a:p>
            <a:pPr lvl="4"/>
            <a:r>
              <a:rPr lang="en-US" dirty="0"/>
              <a:t>5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C827ACB2-65C9-71BA-960F-661DFF3793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903" y="74066"/>
            <a:ext cx="11811584" cy="523852"/>
          </a:xfrm>
          <a:prstGeom prst="rect">
            <a:avLst/>
          </a:prstGeom>
        </p:spPr>
        <p:txBody>
          <a:bodyPr anchor="b"/>
          <a:lstStyle>
            <a:lvl1pPr>
              <a:defRPr sz="2800" b="1" i="0" cap="small" baseline="0">
                <a:ln w="6350">
                  <a:solidFill>
                    <a:schemeClr val="tx1"/>
                  </a:solidFill>
                </a:ln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ko-KR" altLang="en-US" sz="2800" b="1" i="0" cap="small" baseline="0" dirty="0" err="1">
                <a:latin typeface="Tahoma" panose="020B0604030504040204" pitchFamily="34" charset="0"/>
                <a:cs typeface="Tahoma" panose="020B0604030504040204" pitchFamily="34" charset="0"/>
              </a:rPr>
              <a:t>ㅇㅇㅇㅇㅇㅇ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314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id="{92E004D5-42AF-657C-B1AC-F1B3836F2E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10975" y="6313455"/>
            <a:ext cx="417624" cy="431500"/>
          </a:xfrm>
          <a:prstGeom prst="rect">
            <a:avLst/>
          </a:prstGeom>
        </p:spPr>
      </p:pic>
      <p:sp>
        <p:nvSpPr>
          <p:cNvPr id="3" name="Rectangle 9">
            <a:extLst>
              <a:ext uri="{FF2B5EF4-FFF2-40B4-BE49-F238E27FC236}">
                <a16:creationId xmlns:a16="http://schemas.microsoft.com/office/drawing/2014/main" id="{F765FA24-73B4-95E4-F2BB-1623466D095F}"/>
              </a:ext>
            </a:extLst>
          </p:cNvPr>
          <p:cNvSpPr/>
          <p:nvPr userDrawn="1"/>
        </p:nvSpPr>
        <p:spPr>
          <a:xfrm>
            <a:off x="0" y="5428401"/>
            <a:ext cx="12192000" cy="24094"/>
          </a:xfrm>
          <a:prstGeom prst="rect">
            <a:avLst/>
          </a:prstGeom>
          <a:solidFill>
            <a:srgbClr val="283A74"/>
          </a:solidFill>
          <a:ln>
            <a:solidFill>
              <a:srgbClr val="283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D75B2D0E-4A60-CE9D-FC16-E26481E3F3DF}"/>
              </a:ext>
            </a:extLst>
          </p:cNvPr>
          <p:cNvSpPr txBox="1">
            <a:spLocks/>
          </p:cNvSpPr>
          <p:nvPr userDrawn="1"/>
        </p:nvSpPr>
        <p:spPr>
          <a:xfrm>
            <a:off x="0" y="4315227"/>
            <a:ext cx="12192000" cy="99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000" b="1" i="0" kern="1200" cap="small" baseline="0">
                <a:ln w="6350">
                  <a:solidFill>
                    <a:schemeClr val="tx1"/>
                  </a:solidFill>
                </a:ln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ko-KR" altLang="en-US" sz="6000" dirty="0" err="1"/>
              <a:t>ㅇㅇㅇㅇㅇㅇ</a:t>
            </a:r>
            <a:endParaRPr lang="en-US" sz="6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7B475C1-0B6A-4812-A576-465C1EC475A3}"/>
              </a:ext>
            </a:extLst>
          </p:cNvPr>
          <p:cNvSpPr txBox="1">
            <a:spLocks/>
          </p:cNvSpPr>
          <p:nvPr userDrawn="1"/>
        </p:nvSpPr>
        <p:spPr>
          <a:xfrm>
            <a:off x="0" y="5566555"/>
            <a:ext cx="12192000" cy="2473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000" b="1" i="0" kern="1200" cap="small" baseline="0">
                <a:ln w="6350">
                  <a:solidFill>
                    <a:schemeClr val="tx1"/>
                  </a:solidFill>
                </a:ln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ko-KR" altLang="en-US" sz="1100" dirty="0" err="1"/>
              <a:t>ㅇㅇㅇㅇㅇㅇ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37080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038A20-7BCE-3661-F030-0641C78F8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53465-516E-4596-B4DF-F5063F0B6BBD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0A1040-56B8-ACDD-BDB8-A21055B43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B7BA53-787B-608D-333A-5B080362F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AF3CB-A98C-4346-A525-5626FF1E14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6845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C4317D-BB21-B542-3014-02B1ABCE9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71E71E-6A2C-F8D7-4788-A61973C82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24DB6A-7792-44D9-C2FE-E13B3007B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53465-516E-4596-B4DF-F5063F0B6BBD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59E6D6-1862-17BB-A518-2019F1E0F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D6B032-E978-E451-D416-BEC54D245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AF3CB-A98C-4346-A525-5626FF1E14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39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C3DCD6-D935-4174-E568-E5FCACC06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7FFB9F-073F-E11E-B98F-123BB9F5D6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86DAB36-69B6-A61C-8C74-2D146F77B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AE332B-E9E4-AB9C-2829-30E84BF69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53465-516E-4596-B4DF-F5063F0B6BBD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65BEA4-4CFC-DF1E-2AB0-509046FFB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D8600D-C2DE-8421-E478-DDE9F8080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AF3CB-A98C-4346-A525-5626FF1E14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033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7A2BC7-7261-DB7E-92DD-363741114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4FE0C0-B158-39C2-C9DB-362ADFF29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B50ABB-CFB8-28C5-0666-2D20C073D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14D365A-5E47-5A33-EB4A-660EB94DA2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F3ED6BC-BCAC-C490-D3FC-538913B5F4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D961B01-47E1-3589-6675-336A51923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53465-516E-4596-B4DF-F5063F0B6BBD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9E6C61A-0BC8-E275-D7C2-CED7BB849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D50036F-8884-E448-4047-2853844BF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AF3CB-A98C-4346-A525-5626FF1E14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128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535D87-9106-01A4-37C8-89CDC6DE0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0F3944-7771-F3E9-507D-D8936FE1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53465-516E-4596-B4DF-F5063F0B6BBD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0D87949-99C3-1E87-2877-C8B2871B2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D683263-198B-217D-FF2A-9F605DFC3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AF3CB-A98C-4346-A525-5626FF1E14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603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DF2488C-057B-6997-A896-848AAAE1A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53465-516E-4596-B4DF-F5063F0B6BBD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43D7908-4C85-9E55-0DB0-CB8B6A87D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B29127-C618-D738-FE92-594356D86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AF3CB-A98C-4346-A525-5626FF1E14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7758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5D58CD-EBF2-A5FC-A333-E55A1EFE5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52A030-C1BB-146D-6EFF-3090D24A3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334A26C-E031-9ED1-BEE2-1DFD59D42F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35FBFF-2BA1-65F9-6A98-018557212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53465-516E-4596-B4DF-F5063F0B6BBD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DDFAC5-949B-3E76-D0F0-EB913211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6EE3C19-3233-4819-EBBE-B54EC9E2C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AF3CB-A98C-4346-A525-5626FF1E14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7727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A3E362-9C7E-102B-F7F3-CAE576C39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2400C91-0D45-3327-D163-94C28E1A1E8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0D9EAF-7E03-69CE-DB7A-9460EFD9C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E1F13F-19D4-0C77-FE76-125A59C36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53465-516E-4596-B4DF-F5063F0B6BBD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6D9982-636F-8E8F-0C6D-6670912B3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1F8BB9-4FB5-F97C-229F-599997DF5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AF3CB-A98C-4346-A525-5626FF1E14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71065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3F58D7-B9A0-935D-9AF7-B5B389E04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7041046-1680-CA16-C456-C99C91FAF6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887EF5-B5D6-218A-85E1-CF21D3F8D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53465-516E-4596-B4DF-F5063F0B6BBD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97F02C-7CAE-26D2-E79B-CE30121FC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9864D2-5E0D-1910-7C6F-922FA325F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AF3CB-A98C-4346-A525-5626FF1E14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24472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B977AF5-E3AE-986C-0E9C-B5B3D77A9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572AE32-8DE2-E303-0FD3-01E2627982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249D01-4A01-8A5C-DA8E-2D305867B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53465-516E-4596-B4DF-F5063F0B6BBD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55758E-2C1A-80B1-5A56-82E448C50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875CE9-84B7-38D7-6596-2008D791A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AF3CB-A98C-4346-A525-5626FF1E14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686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33E4A15-0C8B-4547-F67C-17F21E17A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24F589-0025-C28A-AE50-5A7B424F8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0A7507-CF60-BA0C-6127-229B5B3A29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53465-516E-4596-B4DF-F5063F0B6BBD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86F130-2F27-2D29-8556-8FFBF93F30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93AFB5-2811-577B-6948-A824442288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AF3CB-A98C-4346-A525-5626FF1E14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4209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1" r:id="rId3"/>
    <p:sldLayoutId id="2147483649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poscofuturem.com/pr/view.do?num=664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4.png"/><Relationship Id="rId7" Type="http://schemas.openxmlformats.org/officeDocument/2006/relationships/hyperlink" Target="https://www.sphericalinsights.com/ko/reports/south-korea-electric-vehicle-marke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onga.com/news/Economy/article/all/20230509/119197204/1" TargetMode="External"/><Relationship Id="rId5" Type="http://schemas.openxmlformats.org/officeDocument/2006/relationships/hyperlink" Target="https://www.yna.co.kr/view/GYH20220908000200044" TargetMode="External"/><Relationship Id="rId4" Type="http://schemas.openxmlformats.org/officeDocument/2006/relationships/image" Target="../media/image7.png"/><Relationship Id="rId9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hyperlink" Target="https://www.yna.co.kr/view/GYH20201210001800044" TargetMode="External"/><Relationship Id="rId4" Type="http://schemas.openxmlformats.org/officeDocument/2006/relationships/hyperlink" Target="https://www.insight.co.kr/news/566965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hyperlink" Target="https://www.industrynews.co.kr/news/articleView.html?idxno=57678" TargetMode="External"/><Relationship Id="rId4" Type="http://schemas.openxmlformats.org/officeDocument/2006/relationships/hyperlink" Target="https://limitsinx.tistory.com/14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1E25AFFA-54F0-9494-50D1-F2CEC02DCBA7}"/>
              </a:ext>
            </a:extLst>
          </p:cNvPr>
          <p:cNvSpPr txBox="1"/>
          <p:nvPr/>
        </p:nvSpPr>
        <p:spPr>
          <a:xfrm>
            <a:off x="0" y="4696913"/>
            <a:ext cx="1219199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3500" b="1" dirty="0">
                <a:ln>
                  <a:solidFill>
                    <a:schemeClr val="tx1"/>
                  </a:solidFill>
                </a:ln>
                <a:solidFill>
                  <a:srgbClr val="002060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Tahoma" panose="020B0604030504040204" pitchFamily="34" charset="0"/>
              </a:rPr>
              <a:t>전기차 생산 공정별 </a:t>
            </a:r>
            <a:endParaRPr lang="en-US" altLang="ko-KR" sz="3500" b="1" dirty="0">
              <a:ln>
                <a:solidFill>
                  <a:schemeClr val="tx1"/>
                </a:solidFill>
              </a:ln>
              <a:solidFill>
                <a:srgbClr val="002060"/>
              </a:solidFill>
              <a:latin typeface="한컴산뜻돋움" panose="02000000000000000000" pitchFamily="2" charset="-127"/>
              <a:ea typeface="한컴산뜻돋움" panose="02000000000000000000" pitchFamily="2" charset="-127"/>
              <a:cs typeface="Tahoma" panose="020B0604030504040204" pitchFamily="34" charset="0"/>
            </a:endParaRPr>
          </a:p>
          <a:p>
            <a:pPr algn="r"/>
            <a:r>
              <a:rPr lang="ko-KR" altLang="en-US" sz="3500" b="1" dirty="0">
                <a:ln>
                  <a:solidFill>
                    <a:schemeClr val="tx1"/>
                  </a:solidFill>
                </a:ln>
                <a:solidFill>
                  <a:srgbClr val="002060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Tahoma" panose="020B0604030504040204" pitchFamily="34" charset="0"/>
              </a:rPr>
              <a:t>불량 검출 자동화 시스템 구축</a:t>
            </a:r>
            <a:endParaRPr lang="ko-KR" altLang="en-US" sz="3500" b="1" dirty="0">
              <a:ln>
                <a:solidFill>
                  <a:schemeClr val="tx1"/>
                </a:solidFill>
              </a:ln>
              <a:solidFill>
                <a:srgbClr val="002060"/>
              </a:solidFill>
              <a:latin typeface="한컴산뜻돋움" panose="02000000000000000000" pitchFamily="2" charset="-127"/>
              <a:ea typeface="한컴산뜻돋움" panose="02000000000000000000" pitchFamily="2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FEB4B8-5246-5908-41B7-7ECC877E0447}"/>
              </a:ext>
            </a:extLst>
          </p:cNvPr>
          <p:cNvSpPr txBox="1"/>
          <p:nvPr/>
        </p:nvSpPr>
        <p:spPr>
          <a:xfrm>
            <a:off x="9009246" y="5866465"/>
            <a:ext cx="318275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1500" b="1" dirty="0">
                <a:solidFill>
                  <a:srgbClr val="002060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Tahoma" panose="020B0604030504040204" pitchFamily="34" charset="0"/>
              </a:rPr>
              <a:t>팀원</a:t>
            </a:r>
            <a:r>
              <a:rPr lang="en-US" altLang="ko-KR" sz="1500" b="1" dirty="0">
                <a:solidFill>
                  <a:srgbClr val="002060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Tahoma" panose="020B0604030504040204" pitchFamily="34" charset="0"/>
              </a:rPr>
              <a:t>: </a:t>
            </a:r>
            <a:r>
              <a:rPr lang="ko-KR" altLang="en-US" sz="1500" b="1" dirty="0">
                <a:solidFill>
                  <a:srgbClr val="002060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Tahoma" panose="020B0604030504040204" pitchFamily="34" charset="0"/>
              </a:rPr>
              <a:t>김성현</a:t>
            </a:r>
            <a:r>
              <a:rPr lang="en-US" altLang="ko-KR" sz="1500" b="1" dirty="0">
                <a:solidFill>
                  <a:srgbClr val="002060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Tahoma" panose="020B0604030504040204" pitchFamily="34" charset="0"/>
              </a:rPr>
              <a:t>, </a:t>
            </a:r>
            <a:r>
              <a:rPr lang="ko-KR" altLang="en-US" sz="1500" b="1" dirty="0">
                <a:solidFill>
                  <a:srgbClr val="002060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Tahoma" panose="020B0604030504040204" pitchFamily="34" charset="0"/>
              </a:rPr>
              <a:t>이유진</a:t>
            </a:r>
            <a:r>
              <a:rPr lang="en-US" altLang="ko-KR" sz="1500" b="1" dirty="0">
                <a:solidFill>
                  <a:srgbClr val="002060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Tahoma" panose="020B0604030504040204" pitchFamily="34" charset="0"/>
              </a:rPr>
              <a:t>, </a:t>
            </a:r>
            <a:r>
              <a:rPr lang="ko-KR" altLang="en-US" sz="1500" b="1" dirty="0" err="1">
                <a:solidFill>
                  <a:srgbClr val="002060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Tahoma" panose="020B0604030504040204" pitchFamily="34" charset="0"/>
              </a:rPr>
              <a:t>장하늘</a:t>
            </a:r>
            <a:r>
              <a:rPr lang="en-US" altLang="ko-KR" sz="1500" b="1" dirty="0">
                <a:solidFill>
                  <a:srgbClr val="002060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Tahoma" panose="020B0604030504040204" pitchFamily="34" charset="0"/>
              </a:rPr>
              <a:t>, </a:t>
            </a:r>
            <a:r>
              <a:rPr lang="ko-KR" altLang="en-US" sz="1500" b="1" dirty="0">
                <a:solidFill>
                  <a:srgbClr val="002060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Tahoma" panose="020B0604030504040204" pitchFamily="34" charset="0"/>
              </a:rPr>
              <a:t>홍준일</a:t>
            </a:r>
            <a:endParaRPr lang="ko-KR" altLang="en-US" sz="1500" b="1" dirty="0">
              <a:solidFill>
                <a:srgbClr val="002060"/>
              </a:solidFill>
              <a:latin typeface="한컴산뜻돋움" panose="02000000000000000000" pitchFamily="2" charset="-127"/>
              <a:ea typeface="한컴산뜻돋움" panose="02000000000000000000" pitchFamily="2" charset="-127"/>
            </a:endParaRPr>
          </a:p>
        </p:txBody>
      </p:sp>
      <p:cxnSp>
        <p:nvCxnSpPr>
          <p:cNvPr id="33" name="직선 연결선 4">
            <a:extLst>
              <a:ext uri="{FF2B5EF4-FFF2-40B4-BE49-F238E27FC236}">
                <a16:creationId xmlns:a16="http://schemas.microsoft.com/office/drawing/2014/main" id="{0343F5F0-3927-CBD4-57C6-94F583843CC3}"/>
              </a:ext>
            </a:extLst>
          </p:cNvPr>
          <p:cNvCxnSpPr>
            <a:cxnSpLocks/>
          </p:cNvCxnSpPr>
          <p:nvPr/>
        </p:nvCxnSpPr>
        <p:spPr>
          <a:xfrm flipH="1">
            <a:off x="6805061" y="5866465"/>
            <a:ext cx="5313145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8295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 t="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FC213B5-1544-366E-C000-B1E9E6AF8E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b="1" dirty="0"/>
              <a:t>주제 선정 및 배경</a:t>
            </a:r>
            <a:endParaRPr lang="en-US" altLang="ko-KR" b="1" dirty="0"/>
          </a:p>
          <a:p>
            <a:pPr lvl="1"/>
            <a:r>
              <a:rPr lang="ko-KR" altLang="en-US" b="1" dirty="0"/>
              <a:t>시장성 분석</a:t>
            </a:r>
            <a:endParaRPr lang="en-US" altLang="ko-KR" b="1" dirty="0"/>
          </a:p>
          <a:p>
            <a:pPr lvl="1"/>
            <a:endParaRPr lang="en-US" altLang="ko-KR" b="1" dirty="0"/>
          </a:p>
          <a:p>
            <a:r>
              <a:rPr lang="ko-KR" altLang="en-US" b="1" dirty="0"/>
              <a:t>설계 목표</a:t>
            </a:r>
            <a:endParaRPr lang="en-US" altLang="ko-KR" b="1" dirty="0"/>
          </a:p>
          <a:p>
            <a:pPr lvl="1"/>
            <a:r>
              <a:rPr lang="ko-KR" altLang="en-US" b="1" dirty="0"/>
              <a:t>공정 흐름도</a:t>
            </a:r>
            <a:endParaRPr lang="en-US" altLang="ko-KR" b="1" dirty="0"/>
          </a:p>
          <a:p>
            <a:pPr lvl="1"/>
            <a:r>
              <a:rPr lang="ko-KR" altLang="en-US" b="1" dirty="0"/>
              <a:t>주요 공정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b="1" dirty="0"/>
              <a:t>기대 효과 및 향후 계획</a:t>
            </a:r>
            <a:endParaRPr lang="en-US" altLang="ko-KR" b="1" dirty="0"/>
          </a:p>
          <a:p>
            <a:pPr lvl="1"/>
            <a:r>
              <a:rPr lang="ko-KR" altLang="en-US" b="1" dirty="0"/>
              <a:t>기대 효과</a:t>
            </a:r>
            <a:endParaRPr lang="en-US" altLang="ko-KR" b="1" dirty="0"/>
          </a:p>
          <a:p>
            <a:pPr lvl="1"/>
            <a:r>
              <a:rPr lang="en-US" altLang="ko-KR" b="1" dirty="0"/>
              <a:t>Gantt Chart</a:t>
            </a:r>
          </a:p>
          <a:p>
            <a:endParaRPr lang="ko-KR" altLang="en-US" b="1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4D10CF5-B966-18DB-B597-2C6C12BE7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458988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9AC48B-C21C-22BF-FA17-A53A1A51C596}"/>
              </a:ext>
            </a:extLst>
          </p:cNvPr>
          <p:cNvSpPr txBox="1"/>
          <p:nvPr/>
        </p:nvSpPr>
        <p:spPr>
          <a:xfrm>
            <a:off x="1" y="2767280"/>
            <a:ext cx="121919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4000" b="1" dirty="0">
                <a:ln>
                  <a:solidFill>
                    <a:schemeClr val="tx1"/>
                  </a:solidFill>
                </a:ln>
                <a:solidFill>
                  <a:srgbClr val="002060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Tahoma" panose="020B0604030504040204" pitchFamily="34" charset="0"/>
              </a:rPr>
              <a:t>주제 선정 및 배경</a:t>
            </a:r>
            <a:endParaRPr lang="ko-KR" altLang="en-US" sz="4000" b="1" dirty="0">
              <a:ln>
                <a:solidFill>
                  <a:schemeClr val="tx1"/>
                </a:solidFill>
              </a:ln>
              <a:solidFill>
                <a:srgbClr val="002060"/>
              </a:solidFill>
              <a:latin typeface="한컴산뜻돋움" panose="02000000000000000000" pitchFamily="2" charset="-127"/>
              <a:ea typeface="한컴산뜻돋움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7005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 t="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6C9C7A-B4AA-48F2-E120-06DCFF570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A663948-649E-E3EA-A702-76DBBE39B8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b="1" dirty="0"/>
              <a:t>전체 시장</a:t>
            </a:r>
            <a:r>
              <a:rPr lang="en-US" altLang="ko-KR" b="1" dirty="0"/>
              <a:t>(TAM): </a:t>
            </a:r>
            <a:r>
              <a:rPr lang="ko-KR" altLang="en-US" b="1" dirty="0"/>
              <a:t>글로벌 전기차 시장</a:t>
            </a:r>
            <a:endParaRPr lang="en-US" altLang="ko-KR" b="1" dirty="0"/>
          </a:p>
          <a:p>
            <a:pPr lvl="1"/>
            <a:r>
              <a:rPr lang="ko-KR" altLang="en-US" b="1" dirty="0"/>
              <a:t>글로벌 전기차 시장 규모 및 추세</a:t>
            </a:r>
            <a:endParaRPr lang="en-US" altLang="ko-KR" b="1" dirty="0"/>
          </a:p>
          <a:p>
            <a:pPr lvl="2"/>
            <a:r>
              <a:rPr lang="en-US" altLang="ko-KR" b="1" dirty="0"/>
              <a:t>2018</a:t>
            </a:r>
            <a:r>
              <a:rPr lang="ko-KR" altLang="en-US" b="1" dirty="0"/>
              <a:t>년부터 </a:t>
            </a:r>
            <a:r>
              <a:rPr lang="en-US" altLang="ko-KR" b="1" dirty="0"/>
              <a:t>2030</a:t>
            </a:r>
            <a:r>
              <a:rPr lang="ko-KR" altLang="en-US" b="1" dirty="0"/>
              <a:t>년까지 </a:t>
            </a:r>
            <a:r>
              <a:rPr lang="ko-KR" altLang="en-US" b="1" dirty="0">
                <a:solidFill>
                  <a:srgbClr val="0070C0"/>
                </a:solidFill>
              </a:rPr>
              <a:t>글로벌 전기차 시장 규모 확대 추세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3"/>
            <a:r>
              <a:rPr lang="en-US" altLang="ko-KR" b="1" dirty="0"/>
              <a:t>2022</a:t>
            </a:r>
            <a:r>
              <a:rPr lang="ko-KR" altLang="en-US" b="1" dirty="0"/>
              <a:t>년 </a:t>
            </a:r>
            <a:r>
              <a:rPr lang="en-US" altLang="ko-KR" b="1" dirty="0">
                <a:solidFill>
                  <a:srgbClr val="0070C0"/>
                </a:solidFill>
              </a:rPr>
              <a:t>1,321</a:t>
            </a:r>
            <a:r>
              <a:rPr lang="ko-KR" altLang="en-US" b="1" dirty="0">
                <a:solidFill>
                  <a:srgbClr val="0070C0"/>
                </a:solidFill>
              </a:rPr>
              <a:t>만 대</a:t>
            </a:r>
            <a:r>
              <a:rPr lang="ko-KR" altLang="en-US" b="1" dirty="0"/>
              <a:t>에서 </a:t>
            </a:r>
            <a:r>
              <a:rPr lang="en-US" altLang="ko-KR" b="1" dirty="0"/>
              <a:t>2030</a:t>
            </a:r>
            <a:r>
              <a:rPr lang="ko-KR" altLang="en-US" b="1" dirty="0"/>
              <a:t>년 </a:t>
            </a:r>
            <a:r>
              <a:rPr lang="en-US" altLang="ko-KR" b="1" dirty="0">
                <a:solidFill>
                  <a:srgbClr val="0070C0"/>
                </a:solidFill>
              </a:rPr>
              <a:t>6,130</a:t>
            </a:r>
            <a:r>
              <a:rPr lang="ko-KR" altLang="en-US" b="1" dirty="0">
                <a:solidFill>
                  <a:srgbClr val="0070C0"/>
                </a:solidFill>
              </a:rPr>
              <a:t>만 대</a:t>
            </a:r>
            <a:r>
              <a:rPr lang="ko-KR" altLang="en-US" b="1" dirty="0"/>
              <a:t>로 지속적 성장</a:t>
            </a:r>
            <a:endParaRPr lang="en-US" altLang="ko-KR" b="1" dirty="0"/>
          </a:p>
          <a:p>
            <a:pPr lvl="2"/>
            <a:endParaRPr lang="en-US" altLang="ko-KR" b="1" dirty="0"/>
          </a:p>
          <a:p>
            <a:pPr lvl="2"/>
            <a:r>
              <a:rPr lang="ko-KR" altLang="en-US" b="1" dirty="0"/>
              <a:t>메가 트렌드</a:t>
            </a:r>
            <a:r>
              <a:rPr lang="en-US" altLang="ko-KR" b="1" dirty="0"/>
              <a:t>: </a:t>
            </a:r>
            <a:r>
              <a:rPr lang="ko-KR" altLang="en-US" b="1" dirty="0">
                <a:solidFill>
                  <a:srgbClr val="0070C0"/>
                </a:solidFill>
              </a:rPr>
              <a:t>탄소중립 </a:t>
            </a:r>
            <a:r>
              <a:rPr lang="ko-KR" altLang="ko-KR" dirty="0">
                <a:solidFill>
                  <a:srgbClr val="0070C0"/>
                </a:solidFill>
              </a:rPr>
              <a:t>·</a:t>
            </a:r>
            <a:r>
              <a:rPr lang="ko-KR" altLang="en-US" b="1" dirty="0">
                <a:solidFill>
                  <a:srgbClr val="0070C0"/>
                </a:solidFill>
              </a:rPr>
              <a:t> 전동화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3"/>
            <a:r>
              <a:rPr lang="ko-KR" altLang="en-US" b="1" dirty="0"/>
              <a:t>유럽연합은 </a:t>
            </a:r>
            <a:r>
              <a:rPr lang="en-US" altLang="ko-KR" b="1" dirty="0"/>
              <a:t>2035</a:t>
            </a:r>
            <a:r>
              <a:rPr lang="ko-KR" altLang="en-US" b="1" dirty="0"/>
              <a:t>년부터 </a:t>
            </a:r>
            <a:r>
              <a:rPr lang="en-US" altLang="ko-KR" b="1" dirty="0"/>
              <a:t>27</a:t>
            </a:r>
            <a:r>
              <a:rPr lang="ko-KR" altLang="en-US" b="1" dirty="0"/>
              <a:t>개 회원국에서 </a:t>
            </a:r>
            <a:r>
              <a:rPr lang="ko-KR" altLang="en-US" b="1" dirty="0">
                <a:solidFill>
                  <a:srgbClr val="0070C0"/>
                </a:solidFill>
              </a:rPr>
              <a:t>내연기관 차량 판매 금지 방안 확정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3"/>
            <a:r>
              <a:rPr lang="ko-KR" altLang="en-US" b="1" dirty="0"/>
              <a:t>유럽의 자동차 </a:t>
            </a:r>
            <a:r>
              <a:rPr lang="en-US" altLang="ko-KR" b="1" dirty="0"/>
              <a:t>CO</a:t>
            </a:r>
            <a:r>
              <a:rPr lang="en-US" altLang="ko-KR" b="1" baseline="-25000" dirty="0"/>
              <a:t>2</a:t>
            </a:r>
            <a:r>
              <a:rPr lang="en-US" altLang="ko-KR" b="1" dirty="0"/>
              <a:t> </a:t>
            </a:r>
            <a:r>
              <a:rPr lang="ko-KR" altLang="en-US" b="1" dirty="0"/>
              <a:t>배출 및 연비 규제 강화</a:t>
            </a:r>
            <a:endParaRPr lang="en-US" altLang="ko-KR" b="1" dirty="0"/>
          </a:p>
          <a:p>
            <a:pPr lvl="4"/>
            <a:r>
              <a:rPr lang="ko-KR" altLang="en-US" b="1" dirty="0"/>
              <a:t>현재 연평균 </a:t>
            </a:r>
            <a:r>
              <a:rPr lang="en-US" altLang="ko-KR" b="1" dirty="0"/>
              <a:t>CO</a:t>
            </a:r>
            <a:r>
              <a:rPr lang="en-US" altLang="ko-KR" b="1" baseline="-25000" dirty="0"/>
              <a:t>2</a:t>
            </a:r>
            <a:r>
              <a:rPr lang="en-US" altLang="ko-KR" b="1" dirty="0"/>
              <a:t> </a:t>
            </a:r>
            <a:r>
              <a:rPr lang="ko-KR" altLang="en-US" b="1" dirty="0"/>
              <a:t>배출량 목표치 </a:t>
            </a:r>
            <a:r>
              <a:rPr lang="en-US" altLang="ko-KR" b="1" dirty="0"/>
              <a:t>95g/km</a:t>
            </a:r>
            <a:r>
              <a:rPr lang="ko-KR" altLang="en-US" b="1" dirty="0"/>
              <a:t>를 기준으로 </a:t>
            </a:r>
            <a:r>
              <a:rPr lang="ko-KR" altLang="en-US" b="1" dirty="0">
                <a:solidFill>
                  <a:srgbClr val="0070C0"/>
                </a:solidFill>
              </a:rPr>
              <a:t>초과 시 </a:t>
            </a:r>
            <a:r>
              <a:rPr lang="en-US" altLang="ko-KR" b="1" dirty="0">
                <a:solidFill>
                  <a:srgbClr val="0070C0"/>
                </a:solidFill>
              </a:rPr>
              <a:t>1g/km</a:t>
            </a:r>
            <a:r>
              <a:rPr lang="ko-KR" altLang="en-US" b="1" dirty="0">
                <a:solidFill>
                  <a:srgbClr val="0070C0"/>
                </a:solidFill>
              </a:rPr>
              <a:t> 당 과징금 </a:t>
            </a:r>
            <a:r>
              <a:rPr lang="en-US" altLang="ko-KR" b="1" dirty="0">
                <a:solidFill>
                  <a:srgbClr val="0070C0"/>
                </a:solidFill>
              </a:rPr>
              <a:t>95</a:t>
            </a:r>
            <a:r>
              <a:rPr lang="ko-KR" altLang="en-US" b="1" dirty="0">
                <a:solidFill>
                  <a:srgbClr val="0070C0"/>
                </a:solidFill>
              </a:rPr>
              <a:t>유로 부과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4"/>
            <a:r>
              <a:rPr lang="ko-KR" altLang="en-US" b="1" dirty="0"/>
              <a:t>이후 기준을 </a:t>
            </a:r>
            <a:r>
              <a:rPr lang="en-US" altLang="ko-KR" b="1" dirty="0"/>
              <a:t>5</a:t>
            </a:r>
            <a:r>
              <a:rPr lang="ko-KR" altLang="en-US" b="1" dirty="0"/>
              <a:t>년 주기로 강화하여 </a:t>
            </a:r>
            <a:r>
              <a:rPr lang="en-US" altLang="ko-KR" b="1" dirty="0"/>
              <a:t>2025</a:t>
            </a:r>
            <a:r>
              <a:rPr lang="ko-KR" altLang="en-US" b="1" dirty="0"/>
              <a:t>년은 </a:t>
            </a:r>
            <a:r>
              <a:rPr lang="en-US" altLang="ko-KR" b="1" dirty="0">
                <a:solidFill>
                  <a:srgbClr val="0070C0"/>
                </a:solidFill>
              </a:rPr>
              <a:t>81g/km</a:t>
            </a:r>
            <a:r>
              <a:rPr lang="en-US" altLang="ko-KR" b="1" dirty="0"/>
              <a:t>, 2030</a:t>
            </a:r>
            <a:r>
              <a:rPr lang="ko-KR" altLang="en-US" b="1" dirty="0"/>
              <a:t>년은 </a:t>
            </a:r>
            <a:r>
              <a:rPr lang="en-US" altLang="ko-KR" b="1" dirty="0">
                <a:solidFill>
                  <a:srgbClr val="0070C0"/>
                </a:solidFill>
              </a:rPr>
              <a:t>57g/km </a:t>
            </a:r>
            <a:r>
              <a:rPr lang="ko-KR" altLang="en-US" b="1" dirty="0"/>
              <a:t>초과 시 과징금 부과</a:t>
            </a:r>
            <a:endParaRPr lang="en-US" altLang="ko-KR" b="1" dirty="0"/>
          </a:p>
          <a:p>
            <a:pPr lvl="3"/>
            <a:r>
              <a:rPr lang="ko-KR" altLang="en-US" b="1" dirty="0"/>
              <a:t>미국 캘리포니아주는 </a:t>
            </a:r>
            <a:r>
              <a:rPr lang="en-US" altLang="ko-KR" b="1" dirty="0"/>
              <a:t>2035</a:t>
            </a:r>
            <a:r>
              <a:rPr lang="ko-KR" altLang="en-US" b="1" dirty="0"/>
              <a:t>년까지 </a:t>
            </a:r>
            <a:r>
              <a:rPr lang="ko-KR" altLang="en-US" b="1" dirty="0">
                <a:solidFill>
                  <a:srgbClr val="0070C0"/>
                </a:solidFill>
              </a:rPr>
              <a:t>내연기관 신차 판매 금지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4"/>
            <a:r>
              <a:rPr lang="ko-KR" altLang="en-US" b="1" dirty="0"/>
              <a:t>향후 캘리포니아 배출 규정을 </a:t>
            </a:r>
            <a:r>
              <a:rPr lang="ko-KR" altLang="en-US" b="1" dirty="0" err="1"/>
              <a:t>벤치마크하는</a:t>
            </a:r>
            <a:r>
              <a:rPr lang="ko-KR" altLang="en-US" b="1" dirty="0"/>
              <a:t> </a:t>
            </a:r>
            <a:r>
              <a:rPr lang="en-US" altLang="ko-KR" b="1" dirty="0"/>
              <a:t>15</a:t>
            </a:r>
            <a:r>
              <a:rPr lang="ko-KR" altLang="en-US" b="1" dirty="0"/>
              <a:t>개 이상 주도 영향을 받을 것으로 전망</a:t>
            </a:r>
            <a:endParaRPr lang="en-US" altLang="ko-KR" b="1" dirty="0"/>
          </a:p>
          <a:p>
            <a:pPr lvl="2"/>
            <a:endParaRPr lang="en-US" altLang="ko-KR" b="1" dirty="0"/>
          </a:p>
          <a:p>
            <a:pPr lvl="2">
              <a:buFont typeface="Wingdings" panose="05000000000000000000" pitchFamily="2" charset="2"/>
              <a:buChar char="Ø"/>
            </a:pPr>
            <a:endParaRPr lang="en-US" altLang="ko-KR" b="1" dirty="0"/>
          </a:p>
          <a:p>
            <a:pPr marL="617400" lvl="2" indent="0">
              <a:buNone/>
            </a:pPr>
            <a:endParaRPr lang="en-US" altLang="ko-KR" b="1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ko-KR" altLang="en-US" b="1" dirty="0"/>
              <a:t>내연기관차의 잔존가치는 낮아지는 반면</a:t>
            </a:r>
            <a:r>
              <a:rPr lang="en-US" altLang="ko-KR" b="1" dirty="0"/>
              <a:t>, </a:t>
            </a:r>
            <a:r>
              <a:rPr lang="ko-KR" altLang="en-US" b="1" dirty="0">
                <a:solidFill>
                  <a:srgbClr val="FF0000"/>
                </a:solidFill>
              </a:rPr>
              <a:t>글로벌 탄소중립 달성</a:t>
            </a:r>
            <a:r>
              <a:rPr lang="ko-KR" altLang="en-US" b="1" dirty="0"/>
              <a:t>에 필수요소인 전기차는 </a:t>
            </a:r>
            <a:r>
              <a:rPr lang="ko-KR" altLang="en-US" b="1" dirty="0">
                <a:solidFill>
                  <a:srgbClr val="FF0000"/>
                </a:solidFill>
              </a:rPr>
              <a:t>시장 가치가 지속적 상승 추세</a:t>
            </a:r>
          </a:p>
          <a:p>
            <a:pPr marL="0" indent="0">
              <a:buNone/>
            </a:pPr>
            <a:endParaRPr lang="en-US" altLang="ko-KR" b="1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D043070-93ED-FE1E-2673-65726AFE4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시장성 분석</a:t>
            </a:r>
          </a:p>
        </p:txBody>
      </p:sp>
      <p:pic>
        <p:nvPicPr>
          <p:cNvPr id="4" name="그림 3" descr="글로벌 전기차 시장 규모가 상승하는 인포그래픽">
            <a:extLst>
              <a:ext uri="{FF2B5EF4-FFF2-40B4-BE49-F238E27FC236}">
                <a16:creationId xmlns:a16="http://schemas.microsoft.com/office/drawing/2014/main" id="{0A277562-BCDE-DFE4-F489-078F5F7C4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9271" y="1079456"/>
            <a:ext cx="2945786" cy="2141148"/>
          </a:xfrm>
          <a:prstGeom prst="rect">
            <a:avLst/>
          </a:prstGeom>
        </p:spPr>
      </p:pic>
      <p:pic>
        <p:nvPicPr>
          <p:cNvPr id="5" name="그림 4" descr="주요 국개 내연기관차 판매 금지 시점 표">
            <a:extLst>
              <a:ext uri="{FF2B5EF4-FFF2-40B4-BE49-F238E27FC236}">
                <a16:creationId xmlns:a16="http://schemas.microsoft.com/office/drawing/2014/main" id="{876C9AA0-9B9D-4C60-4EE0-503045E2D8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9271" y="3556507"/>
            <a:ext cx="2945786" cy="17211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854CC9-9EBC-4EDF-1E6B-3A9903AB1BB4}"/>
              </a:ext>
            </a:extLst>
          </p:cNvPr>
          <p:cNvSpPr txBox="1"/>
          <p:nvPr/>
        </p:nvSpPr>
        <p:spPr>
          <a:xfrm>
            <a:off x="9158367" y="3220604"/>
            <a:ext cx="19111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n w="9525">
                  <a:solidFill>
                    <a:schemeClr val="tx1"/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latin typeface="대한민국정부상징체 R" panose="02020503020101020101" pitchFamily="18" charset="-127"/>
                <a:ea typeface="대한민국정부상징체 R" panose="02020503020101020101" pitchFamily="18" charset="-127"/>
                <a:cs typeface="Tahoma" panose="020B0604030504040204" pitchFamily="34" charset="0"/>
              </a:rPr>
              <a:t>▲ </a:t>
            </a:r>
            <a:r>
              <a:rPr lang="ko-KR" altLang="en-US" sz="1000" dirty="0"/>
              <a:t>글로벌 전기차 시장 규모</a:t>
            </a:r>
            <a:r>
              <a:rPr lang="en-US" altLang="ko-KR" sz="1000" baseline="30000" dirty="0"/>
              <a:t>[1]</a:t>
            </a:r>
            <a:endParaRPr lang="ko-KR" altLang="en-US" sz="1000" baseline="30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305673-9CD1-B5AF-C3C8-30F418989824}"/>
              </a:ext>
            </a:extLst>
          </p:cNvPr>
          <p:cNvSpPr txBox="1"/>
          <p:nvPr/>
        </p:nvSpPr>
        <p:spPr>
          <a:xfrm>
            <a:off x="8735976" y="5277609"/>
            <a:ext cx="25923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n w="9525">
                  <a:solidFill>
                    <a:schemeClr val="tx1"/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latin typeface="대한민국정부상징체 R" panose="02020503020101020101" pitchFamily="18" charset="-127"/>
                <a:ea typeface="대한민국정부상징체 R" panose="02020503020101020101" pitchFamily="18" charset="-127"/>
                <a:cs typeface="Tahoma" panose="020B0604030504040204" pitchFamily="34" charset="0"/>
              </a:rPr>
              <a:t>▲ </a:t>
            </a:r>
            <a:r>
              <a:rPr lang="ko-KR" altLang="en-US" sz="1000" dirty="0"/>
              <a:t>주요 국가 내연기관차 판매 금지 시점</a:t>
            </a:r>
            <a:r>
              <a:rPr lang="en-US" altLang="ko-KR" sz="1000" baseline="30000" dirty="0"/>
              <a:t>[2]</a:t>
            </a:r>
            <a:endParaRPr lang="ko-KR" altLang="en-US" sz="1000" baseline="30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7D3795-D779-4084-88B4-85EE567BCCF6}"/>
              </a:ext>
            </a:extLst>
          </p:cNvPr>
          <p:cNvSpPr txBox="1"/>
          <p:nvPr/>
        </p:nvSpPr>
        <p:spPr>
          <a:xfrm>
            <a:off x="8043182" y="-3843"/>
            <a:ext cx="4148818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[1],</a:t>
            </a:r>
            <a:r>
              <a:rPr lang="ko-KR" altLang="en-US" sz="500" dirty="0"/>
              <a:t> </a:t>
            </a:r>
            <a:r>
              <a:rPr lang="en-US" altLang="ko-KR" sz="500" dirty="0"/>
              <a:t>[2]</a:t>
            </a:r>
            <a:r>
              <a:rPr lang="ko-KR" altLang="en-US" sz="500" dirty="0"/>
              <a:t> </a:t>
            </a:r>
            <a:r>
              <a:rPr lang="en-US" altLang="ko-KR" sz="500" dirty="0"/>
              <a:t>[</a:t>
            </a:r>
            <a:r>
              <a:rPr lang="ko-KR" altLang="en-US" sz="500" dirty="0"/>
              <a:t>배터리포트</a:t>
            </a:r>
            <a:r>
              <a:rPr lang="en-US" altLang="ko-KR" sz="500" dirty="0"/>
              <a:t>] </a:t>
            </a:r>
            <a:r>
              <a:rPr lang="ko-KR" altLang="en-US" sz="500" dirty="0"/>
              <a:t>전기차 산업</a:t>
            </a:r>
            <a:r>
              <a:rPr lang="en-US" altLang="ko-KR" sz="500" dirty="0"/>
              <a:t>, </a:t>
            </a:r>
            <a:r>
              <a:rPr lang="ko-KR" altLang="en-US" sz="500" dirty="0"/>
              <a:t>성장할 수밖에 없는 이유 </a:t>
            </a:r>
            <a:r>
              <a:rPr lang="en-US" altLang="ko-KR" sz="500" dirty="0"/>
              <a:t>- </a:t>
            </a:r>
            <a:r>
              <a:rPr lang="ko-KR" altLang="en-US" sz="500" dirty="0" err="1"/>
              <a:t>뉴스룸</a:t>
            </a:r>
            <a:r>
              <a:rPr lang="ko-KR" altLang="en-US" sz="500" dirty="0"/>
              <a:t> </a:t>
            </a:r>
            <a:r>
              <a:rPr lang="en-US" altLang="ko-KR" sz="500" dirty="0"/>
              <a:t>- </a:t>
            </a:r>
            <a:r>
              <a:rPr lang="ko-KR" altLang="en-US" sz="500" dirty="0" err="1"/>
              <a:t>포스코퓨처엠</a:t>
            </a:r>
            <a:r>
              <a:rPr lang="en-US" altLang="ko-KR" sz="500" dirty="0"/>
              <a:t>. (n.d.). </a:t>
            </a:r>
            <a:r>
              <a:rPr lang="en-US" altLang="ko-KR" sz="500" dirty="0">
                <a:hlinkClick r:id="rId6"/>
              </a:rPr>
              <a:t>http://poscofuturem.com/pr/view.do?num=664</a:t>
            </a:r>
            <a:r>
              <a:rPr lang="en-US" altLang="ko-KR" sz="500" dirty="0"/>
              <a:t> </a:t>
            </a:r>
            <a:endParaRPr lang="ko-KR" altLang="en-US" sz="500" dirty="0"/>
          </a:p>
        </p:txBody>
      </p:sp>
    </p:spTree>
    <p:extLst>
      <p:ext uri="{BB962C8B-B14F-4D97-AF65-F5344CB8AC3E}">
        <p14:creationId xmlns:p14="http://schemas.microsoft.com/office/powerpoint/2010/main" val="1336426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 t="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AF48C8-B106-7FA8-4980-2E86C0A5C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D769C27-CC46-0753-FFA9-4EBF4FD707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b="1" dirty="0"/>
              <a:t>유효 시장</a:t>
            </a:r>
            <a:r>
              <a:rPr lang="en-US" altLang="ko-KR" b="1" dirty="0"/>
              <a:t>(SAM): </a:t>
            </a:r>
            <a:r>
              <a:rPr lang="ko-KR" altLang="en-US" b="1" dirty="0"/>
              <a:t>국내 기업 전기차 시장</a:t>
            </a:r>
            <a:endParaRPr lang="en-US" altLang="ko-KR" b="1" dirty="0"/>
          </a:p>
          <a:p>
            <a:pPr lvl="1"/>
            <a:r>
              <a:rPr lang="ko-KR" altLang="en-US" b="1" dirty="0"/>
              <a:t>국내 기업 전기차 시장 규모 및 추세</a:t>
            </a:r>
            <a:endParaRPr lang="en-US" altLang="ko-KR" b="1" dirty="0"/>
          </a:p>
          <a:p>
            <a:pPr lvl="2"/>
            <a:r>
              <a:rPr lang="ko-KR" altLang="en-US" b="1" dirty="0"/>
              <a:t>글로벌 전기차 수출 규모 </a:t>
            </a:r>
            <a:r>
              <a:rPr lang="ko-KR" altLang="en-US" b="1" dirty="0">
                <a:solidFill>
                  <a:srgbClr val="0070C0"/>
                </a:solidFill>
              </a:rPr>
              <a:t>상위권 포진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3"/>
            <a:r>
              <a:rPr lang="ko-KR" altLang="en-US" b="1" dirty="0"/>
              <a:t>한국 전기차 수출액은 </a:t>
            </a:r>
            <a:r>
              <a:rPr lang="en-US" altLang="ko-KR" b="1" dirty="0"/>
              <a:t>2019</a:t>
            </a:r>
            <a:r>
              <a:rPr lang="ko-KR" altLang="en-US" b="1" dirty="0"/>
              <a:t>년 </a:t>
            </a:r>
            <a:r>
              <a:rPr lang="ko-KR" altLang="en-US" b="1" dirty="0">
                <a:solidFill>
                  <a:srgbClr val="0070C0"/>
                </a:solidFill>
              </a:rPr>
              <a:t>약 </a:t>
            </a:r>
            <a:r>
              <a:rPr lang="en-US" altLang="ko-KR" b="1" dirty="0">
                <a:solidFill>
                  <a:srgbClr val="0070C0"/>
                </a:solidFill>
              </a:rPr>
              <a:t>33</a:t>
            </a:r>
            <a:r>
              <a:rPr lang="ko-KR" altLang="en-US" b="1" dirty="0">
                <a:solidFill>
                  <a:srgbClr val="0070C0"/>
                </a:solidFill>
              </a:rPr>
              <a:t>억 달러</a:t>
            </a:r>
            <a:r>
              <a:rPr lang="ko-KR" altLang="en-US" b="1" dirty="0"/>
              <a:t>에서 </a:t>
            </a:r>
            <a:r>
              <a:rPr lang="en-US" altLang="ko-KR" b="1" dirty="0">
                <a:solidFill>
                  <a:srgbClr val="0070C0"/>
                </a:solidFill>
              </a:rPr>
              <a:t>2021</a:t>
            </a:r>
            <a:r>
              <a:rPr lang="ko-KR" altLang="en-US" b="1" dirty="0">
                <a:solidFill>
                  <a:srgbClr val="0070C0"/>
                </a:solidFill>
              </a:rPr>
              <a:t>년 약 </a:t>
            </a:r>
            <a:r>
              <a:rPr lang="en-US" altLang="ko-KR" b="1" dirty="0">
                <a:solidFill>
                  <a:srgbClr val="0070C0"/>
                </a:solidFill>
              </a:rPr>
              <a:t>70</a:t>
            </a:r>
            <a:r>
              <a:rPr lang="ko-KR" altLang="en-US" b="1" dirty="0">
                <a:solidFill>
                  <a:srgbClr val="0070C0"/>
                </a:solidFill>
              </a:rPr>
              <a:t>억 달러</a:t>
            </a:r>
            <a:r>
              <a:rPr lang="ko-KR" altLang="en-US" b="1" dirty="0"/>
              <a:t>로 </a:t>
            </a:r>
            <a:r>
              <a:rPr lang="en-US" altLang="ko-KR" b="1" dirty="0">
                <a:solidFill>
                  <a:srgbClr val="0070C0"/>
                </a:solidFill>
              </a:rPr>
              <a:t>112.2% </a:t>
            </a:r>
            <a:r>
              <a:rPr lang="ko-KR" altLang="en-US" b="1" dirty="0">
                <a:solidFill>
                  <a:srgbClr val="0070C0"/>
                </a:solidFill>
              </a:rPr>
              <a:t>증가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3"/>
            <a:r>
              <a:rPr lang="en-US" altLang="ko-KR" b="1" dirty="0"/>
              <a:t>2018</a:t>
            </a:r>
            <a:r>
              <a:rPr lang="ko-KR" altLang="en-US" b="1" dirty="0"/>
              <a:t>년부터 </a:t>
            </a:r>
            <a:r>
              <a:rPr lang="en-US" altLang="ko-KR" b="1" dirty="0"/>
              <a:t>2022</a:t>
            </a:r>
            <a:r>
              <a:rPr lang="ko-KR" altLang="en-US" b="1" dirty="0"/>
              <a:t>년까지 </a:t>
            </a:r>
            <a:r>
              <a:rPr lang="ko-KR" altLang="en-US" b="1" dirty="0">
                <a:solidFill>
                  <a:srgbClr val="0070C0"/>
                </a:solidFill>
              </a:rPr>
              <a:t>한국 전기차 수출액 증가 추세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2"/>
            <a:endParaRPr lang="en-US" altLang="ko-KR" b="1" dirty="0"/>
          </a:p>
          <a:p>
            <a:pPr lvl="2"/>
            <a:r>
              <a:rPr lang="en-US" altLang="ko-KR" b="1" dirty="0"/>
              <a:t>2024</a:t>
            </a:r>
            <a:r>
              <a:rPr lang="ko-KR" altLang="en-US" b="1" dirty="0"/>
              <a:t>년부터 </a:t>
            </a:r>
            <a:r>
              <a:rPr lang="en-US" altLang="ko-KR" b="1" dirty="0"/>
              <a:t>2035</a:t>
            </a:r>
            <a:r>
              <a:rPr lang="ko-KR" altLang="en-US" b="1" dirty="0"/>
              <a:t>년까지 </a:t>
            </a:r>
            <a:r>
              <a:rPr lang="ko-KR" altLang="en-US" b="1" dirty="0">
                <a:solidFill>
                  <a:srgbClr val="0070C0"/>
                </a:solidFill>
              </a:rPr>
              <a:t>약 </a:t>
            </a:r>
            <a:r>
              <a:rPr lang="en-US" altLang="ko-KR" b="1" dirty="0">
                <a:solidFill>
                  <a:srgbClr val="0070C0"/>
                </a:solidFill>
              </a:rPr>
              <a:t>28.61%</a:t>
            </a:r>
            <a:r>
              <a:rPr lang="ko-KR" altLang="en-US" b="1" dirty="0">
                <a:solidFill>
                  <a:srgbClr val="0070C0"/>
                </a:solidFill>
              </a:rPr>
              <a:t>의 </a:t>
            </a:r>
            <a:r>
              <a:rPr lang="en-US" altLang="ko-KR" b="1" dirty="0">
                <a:solidFill>
                  <a:srgbClr val="0070C0"/>
                </a:solidFill>
              </a:rPr>
              <a:t>CAGR(</a:t>
            </a:r>
            <a:r>
              <a:rPr lang="ko-KR" altLang="en-US" b="1" dirty="0">
                <a:solidFill>
                  <a:srgbClr val="0070C0"/>
                </a:solidFill>
              </a:rPr>
              <a:t>연평균 성장률</a:t>
            </a:r>
            <a:r>
              <a:rPr lang="en-US" altLang="ko-KR" b="1" dirty="0">
                <a:solidFill>
                  <a:srgbClr val="0070C0"/>
                </a:solidFill>
              </a:rPr>
              <a:t>)</a:t>
            </a:r>
            <a:r>
              <a:rPr lang="ko-KR" altLang="en-US" b="1" dirty="0">
                <a:solidFill>
                  <a:srgbClr val="0070C0"/>
                </a:solidFill>
              </a:rPr>
              <a:t> </a:t>
            </a:r>
            <a:r>
              <a:rPr lang="ko-KR" altLang="en-US" b="1" dirty="0"/>
              <a:t>기록 예상</a:t>
            </a:r>
            <a:endParaRPr lang="en-US" altLang="ko-KR" b="1" dirty="0"/>
          </a:p>
          <a:p>
            <a:pPr lvl="3"/>
            <a:r>
              <a:rPr lang="en-US" altLang="ko-KR" b="1" dirty="0"/>
              <a:t>2024</a:t>
            </a:r>
            <a:r>
              <a:rPr lang="ko-KR" altLang="en-US" b="1" dirty="0"/>
              <a:t>년</a:t>
            </a:r>
            <a:r>
              <a:rPr lang="en-US" altLang="ko-KR" b="1" dirty="0"/>
              <a:t> </a:t>
            </a:r>
            <a:r>
              <a:rPr lang="ko-KR" altLang="en-US" b="1" dirty="0">
                <a:solidFill>
                  <a:srgbClr val="0070C0"/>
                </a:solidFill>
              </a:rPr>
              <a:t>약 </a:t>
            </a:r>
            <a:r>
              <a:rPr lang="en-US" altLang="ko-KR" b="1" dirty="0">
                <a:solidFill>
                  <a:srgbClr val="0070C0"/>
                </a:solidFill>
              </a:rPr>
              <a:t>168</a:t>
            </a:r>
            <a:r>
              <a:rPr lang="ko-KR" altLang="en-US" b="1" dirty="0">
                <a:solidFill>
                  <a:srgbClr val="0070C0"/>
                </a:solidFill>
              </a:rPr>
              <a:t>억 달러</a:t>
            </a:r>
            <a:r>
              <a:rPr lang="ko-KR" altLang="en-US" b="1" dirty="0"/>
              <a:t>에서 </a:t>
            </a:r>
            <a:r>
              <a:rPr lang="en-US" altLang="ko-KR" b="1" dirty="0"/>
              <a:t>2035</a:t>
            </a:r>
            <a:r>
              <a:rPr lang="ko-KR" altLang="en-US" b="1" dirty="0"/>
              <a:t>년 </a:t>
            </a:r>
            <a:r>
              <a:rPr lang="ko-KR" altLang="en-US" b="1" dirty="0">
                <a:solidFill>
                  <a:srgbClr val="0070C0"/>
                </a:solidFill>
              </a:rPr>
              <a:t>약 </a:t>
            </a:r>
            <a:r>
              <a:rPr lang="en-US" altLang="ko-KR" b="1" dirty="0">
                <a:solidFill>
                  <a:srgbClr val="0070C0"/>
                </a:solidFill>
              </a:rPr>
              <a:t>2669</a:t>
            </a:r>
            <a:r>
              <a:rPr lang="ko-KR" altLang="en-US" b="1" dirty="0">
                <a:solidFill>
                  <a:srgbClr val="0070C0"/>
                </a:solidFill>
              </a:rPr>
              <a:t>억 달러</a:t>
            </a:r>
            <a:r>
              <a:rPr lang="ko-KR" altLang="en-US" b="1" dirty="0"/>
              <a:t>의 규모에 이를 것으로 전망</a:t>
            </a:r>
            <a:endParaRPr lang="en-US" altLang="ko-KR" b="1" dirty="0"/>
          </a:p>
          <a:p>
            <a:pPr marL="617400" lvl="2" indent="0">
              <a:buNone/>
            </a:pPr>
            <a:endParaRPr lang="en-US" altLang="ko-KR" b="1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ko-KR" altLang="en-US" b="1" dirty="0"/>
              <a:t>글로벌 전기차 시장 규모 확대에 따른 </a:t>
            </a:r>
            <a:r>
              <a:rPr lang="ko-KR" altLang="en-US" b="1" dirty="0">
                <a:solidFill>
                  <a:srgbClr val="FF0000"/>
                </a:solidFill>
              </a:rPr>
              <a:t>국내 기업 전기차 시장 규모 확대 비례</a:t>
            </a:r>
          </a:p>
          <a:p>
            <a:pPr marL="0" indent="0">
              <a:buNone/>
            </a:pPr>
            <a:endParaRPr lang="en-US" altLang="ko-KR" b="1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D1EF3D4-D697-D0FD-5374-3F6959C11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시장성 분석</a:t>
            </a:r>
          </a:p>
        </p:txBody>
      </p:sp>
      <p:pic>
        <p:nvPicPr>
          <p:cNvPr id="9" name="그림 8" descr="South Korea Electric Vehicle Market ">
            <a:extLst>
              <a:ext uri="{FF2B5EF4-FFF2-40B4-BE49-F238E27FC236}">
                <a16:creationId xmlns:a16="http://schemas.microsoft.com/office/drawing/2014/main" id="{3A09F1CD-E0EA-9809-254B-FC8765D0C5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8133" y="4312173"/>
            <a:ext cx="3062624" cy="16120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893D2AE-4645-B283-58CB-2AA033E49860}"/>
              </a:ext>
            </a:extLst>
          </p:cNvPr>
          <p:cNvSpPr txBox="1"/>
          <p:nvPr/>
        </p:nvSpPr>
        <p:spPr>
          <a:xfrm>
            <a:off x="9001979" y="5969052"/>
            <a:ext cx="17331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n w="9525">
                  <a:solidFill>
                    <a:schemeClr val="tx1"/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latin typeface="대한민국정부상징체 R" panose="02020503020101020101" pitchFamily="18" charset="-127"/>
                <a:ea typeface="대한민국정부상징체 R" panose="02020503020101020101" pitchFamily="18" charset="-127"/>
                <a:cs typeface="Tahoma" panose="020B0604030504040204" pitchFamily="34" charset="0"/>
              </a:rPr>
              <a:t>▲ </a:t>
            </a:r>
            <a:r>
              <a:rPr lang="ko-KR" altLang="en-US" sz="1000" dirty="0"/>
              <a:t>한국 전기차 시장 규모</a:t>
            </a:r>
            <a:r>
              <a:rPr lang="en-US" altLang="ko-KR" sz="1000" baseline="30000" dirty="0"/>
              <a:t>[5]</a:t>
            </a:r>
            <a:endParaRPr lang="ko-KR" altLang="en-US" sz="1000" baseline="30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A0A65F-C1C2-D8E0-DEC2-FED9DA5853F1}"/>
              </a:ext>
            </a:extLst>
          </p:cNvPr>
          <p:cNvSpPr txBox="1"/>
          <p:nvPr/>
        </p:nvSpPr>
        <p:spPr>
          <a:xfrm>
            <a:off x="1031373" y="5975166"/>
            <a:ext cx="18614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n w="9525">
                  <a:solidFill>
                    <a:schemeClr val="tx1"/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latin typeface="대한민국정부상징체 R" panose="02020503020101020101" pitchFamily="18" charset="-127"/>
                <a:ea typeface="대한민국정부상징체 R" panose="02020503020101020101" pitchFamily="18" charset="-127"/>
                <a:cs typeface="Tahoma" panose="020B0604030504040204" pitchFamily="34" charset="0"/>
              </a:rPr>
              <a:t>▲ </a:t>
            </a:r>
            <a:r>
              <a:rPr lang="ko-KR" altLang="en-US" sz="1000" dirty="0"/>
              <a:t>글로벌 전기차 수출 순위</a:t>
            </a:r>
            <a:r>
              <a:rPr lang="en-US" altLang="ko-KR" sz="1000" baseline="30000" dirty="0"/>
              <a:t>[3]</a:t>
            </a:r>
            <a:endParaRPr lang="ko-KR" altLang="en-US" sz="1000" baseline="30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E9483B-AB73-19A7-9D94-1D03DA1D0E20}"/>
              </a:ext>
            </a:extLst>
          </p:cNvPr>
          <p:cNvSpPr txBox="1"/>
          <p:nvPr/>
        </p:nvSpPr>
        <p:spPr>
          <a:xfrm>
            <a:off x="5470344" y="0"/>
            <a:ext cx="672165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[3]</a:t>
            </a:r>
            <a:r>
              <a:rPr lang="ko-KR" altLang="en-US" sz="500" dirty="0"/>
              <a:t> 김민지</a:t>
            </a:r>
            <a:r>
              <a:rPr lang="en-US" altLang="ko-KR" sz="500" dirty="0"/>
              <a:t>. (2022, September 8). [</a:t>
            </a:r>
            <a:r>
              <a:rPr lang="ko-KR" altLang="en-US" sz="500" dirty="0"/>
              <a:t>그래픽</a:t>
            </a:r>
            <a:r>
              <a:rPr lang="en-US" altLang="ko-KR" sz="500" dirty="0"/>
              <a:t>] </a:t>
            </a:r>
            <a:r>
              <a:rPr lang="ko-KR" altLang="en-US" sz="500" dirty="0"/>
              <a:t>글로벌 전기차 수출 순위</a:t>
            </a:r>
            <a:r>
              <a:rPr lang="en-US" altLang="ko-KR" sz="500" dirty="0"/>
              <a:t>. </a:t>
            </a:r>
            <a:r>
              <a:rPr lang="ko-KR" altLang="en-US" sz="500" dirty="0"/>
              <a:t>연합뉴스</a:t>
            </a:r>
            <a:r>
              <a:rPr lang="en-US" altLang="ko-KR" sz="500" dirty="0"/>
              <a:t>. </a:t>
            </a:r>
            <a:r>
              <a:rPr lang="en-US" altLang="ko-KR" sz="500" dirty="0">
                <a:hlinkClick r:id="rId5"/>
              </a:rPr>
              <a:t>https://www.yna.co.kr/view/GYH20220908000200044</a:t>
            </a:r>
            <a:r>
              <a:rPr lang="en-US" altLang="ko-KR" sz="500" dirty="0"/>
              <a:t>  </a:t>
            </a:r>
          </a:p>
          <a:p>
            <a:r>
              <a:rPr lang="en-US" altLang="ko-KR" sz="500" dirty="0"/>
              <a:t>[4] &amp;#54620;&amp;#51116;&amp;#55148;, &amp; &amp;#51060;&amp;#44148;&amp;#54785; (2023, May 8). [</a:t>
            </a:r>
            <a:r>
              <a:rPr lang="ko-KR" altLang="en-US" sz="500" dirty="0"/>
              <a:t>단독</a:t>
            </a:r>
            <a:r>
              <a:rPr lang="en-US" altLang="ko-KR" sz="500" dirty="0"/>
              <a:t>]</a:t>
            </a:r>
            <a:r>
              <a:rPr lang="ko-KR" altLang="en-US" sz="500" dirty="0"/>
              <a:t>현대차</a:t>
            </a:r>
            <a:r>
              <a:rPr lang="en-US" altLang="ko-KR" sz="500" dirty="0"/>
              <a:t>-</a:t>
            </a:r>
            <a:r>
              <a:rPr lang="ko-KR" altLang="en-US" sz="500" dirty="0"/>
              <a:t>기아 빼면 </a:t>
            </a:r>
            <a:r>
              <a:rPr lang="en-US" altLang="ko-KR" sz="500" dirty="0"/>
              <a:t>300</a:t>
            </a:r>
            <a:r>
              <a:rPr lang="ko-KR" altLang="en-US" sz="500" dirty="0"/>
              <a:t>대 팔려</a:t>
            </a:r>
            <a:r>
              <a:rPr lang="en-US" altLang="ko-KR" sz="500" dirty="0"/>
              <a:t>...K</a:t>
            </a:r>
            <a:r>
              <a:rPr lang="ko-KR" altLang="en-US" sz="500" dirty="0"/>
              <a:t>전기차 수출 </a:t>
            </a:r>
            <a:r>
              <a:rPr lang="en-US" altLang="ko-KR" sz="500" dirty="0"/>
              <a:t>3</a:t>
            </a:r>
            <a:r>
              <a:rPr lang="ko-KR" altLang="en-US" sz="500" dirty="0"/>
              <a:t>위 “착시</a:t>
            </a:r>
            <a:r>
              <a:rPr lang="en-US" altLang="ko-KR" sz="500" dirty="0"/>
              <a:t>.” </a:t>
            </a:r>
            <a:r>
              <a:rPr lang="ko-KR" altLang="en-US" sz="500" dirty="0"/>
              <a:t>동아일보</a:t>
            </a:r>
            <a:r>
              <a:rPr lang="en-US" altLang="ko-KR" sz="500" dirty="0"/>
              <a:t>. </a:t>
            </a:r>
            <a:r>
              <a:rPr lang="en-US" altLang="ko-KR" sz="500" dirty="0">
                <a:hlinkClick r:id="rId6"/>
              </a:rPr>
              <a:t>https://www.donga.com/news/Economy/article/all/20230509/119197204/1</a:t>
            </a:r>
            <a:r>
              <a:rPr lang="en-US" altLang="ko-KR" sz="500" dirty="0"/>
              <a:t>  </a:t>
            </a:r>
          </a:p>
          <a:p>
            <a:r>
              <a:rPr lang="en-US" altLang="ko-KR" sz="500" dirty="0"/>
              <a:t>[5] </a:t>
            </a:r>
            <a:r>
              <a:rPr lang="ko-KR" altLang="en-US" sz="500" dirty="0"/>
              <a:t>대한민국 전기 자동차 시장 점유율</a:t>
            </a:r>
            <a:r>
              <a:rPr lang="en-US" altLang="ko-KR" sz="500" dirty="0"/>
              <a:t>, </a:t>
            </a:r>
            <a:r>
              <a:rPr lang="ko-KR" altLang="en-US" sz="500" dirty="0"/>
              <a:t>성장</a:t>
            </a:r>
            <a:r>
              <a:rPr lang="en-US" altLang="ko-KR" sz="500" dirty="0"/>
              <a:t>, </a:t>
            </a:r>
            <a:r>
              <a:rPr lang="ko-KR" altLang="en-US" sz="500" dirty="0"/>
              <a:t>동향</a:t>
            </a:r>
            <a:r>
              <a:rPr lang="en-US" altLang="ko-KR" sz="500" dirty="0"/>
              <a:t>. Spherical Insights. (n.d.). </a:t>
            </a:r>
            <a:r>
              <a:rPr lang="en-US" altLang="ko-KR" sz="500" dirty="0">
                <a:hlinkClick r:id="rId7"/>
              </a:rPr>
              <a:t>https://www.sphericalinsights.com/ko/reports/south-korea-electric-vehicle-market</a:t>
            </a:r>
            <a:r>
              <a:rPr lang="en-US" altLang="ko-KR" sz="500" dirty="0"/>
              <a:t>  </a:t>
            </a:r>
            <a:endParaRPr lang="ko-KR" altLang="en-US" sz="500" dirty="0"/>
          </a:p>
        </p:txBody>
      </p:sp>
      <p:pic>
        <p:nvPicPr>
          <p:cNvPr id="20" name="그림 19" descr="2022090801000263600010921">
            <a:extLst>
              <a:ext uri="{FF2B5EF4-FFF2-40B4-BE49-F238E27FC236}">
                <a16:creationId xmlns:a16="http://schemas.microsoft.com/office/drawing/2014/main" id="{3B96D2E3-234B-D4C3-4069-3391F90723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1243" y="4238625"/>
            <a:ext cx="2161668" cy="174265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DE36C9A2-24C1-AF13-6461-F4829AB202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8860" y="4300434"/>
            <a:ext cx="2837038" cy="166250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DBFFC46-D632-CCEB-BC00-48CFEF9FE239}"/>
              </a:ext>
            </a:extLst>
          </p:cNvPr>
          <p:cNvSpPr txBox="1"/>
          <p:nvPr/>
        </p:nvSpPr>
        <p:spPr>
          <a:xfrm>
            <a:off x="4793817" y="5975166"/>
            <a:ext cx="23071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n w="9525">
                  <a:solidFill>
                    <a:schemeClr val="tx1"/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latin typeface="대한민국정부상징체 R" panose="02020503020101020101" pitchFamily="18" charset="-127"/>
                <a:ea typeface="대한민국정부상징체 R" panose="02020503020101020101" pitchFamily="18" charset="-127"/>
                <a:cs typeface="Tahoma" panose="020B0604030504040204" pitchFamily="34" charset="0"/>
              </a:rPr>
              <a:t>▲ </a:t>
            </a:r>
            <a:r>
              <a:rPr lang="ko-KR" altLang="en-US" sz="1000" dirty="0"/>
              <a:t>전기차 기술 수준 격차 및 수출액</a:t>
            </a:r>
            <a:r>
              <a:rPr lang="en-US" altLang="ko-KR" sz="1000" baseline="30000" dirty="0"/>
              <a:t>[4]</a:t>
            </a:r>
            <a:endParaRPr lang="ko-KR" altLang="en-US" sz="1000" baseline="30000" dirty="0"/>
          </a:p>
        </p:txBody>
      </p:sp>
    </p:spTree>
    <p:extLst>
      <p:ext uri="{BB962C8B-B14F-4D97-AF65-F5344CB8AC3E}">
        <p14:creationId xmlns:p14="http://schemas.microsoft.com/office/powerpoint/2010/main" val="4155293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 t="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342CA6-C6F2-4215-259A-BE7555975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879AD6F-377A-8225-4E97-C61DC94BAD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b="1" dirty="0"/>
              <a:t>수익 시장</a:t>
            </a:r>
            <a:r>
              <a:rPr lang="en-US" altLang="ko-KR" b="1" dirty="0"/>
              <a:t>(SOM): </a:t>
            </a:r>
            <a:r>
              <a:rPr lang="ko-KR" altLang="en-US" b="1" dirty="0"/>
              <a:t> 현대 전기차 시장</a:t>
            </a:r>
            <a:endParaRPr lang="en-US" altLang="ko-KR" b="1" dirty="0"/>
          </a:p>
          <a:p>
            <a:pPr lvl="1"/>
            <a:r>
              <a:rPr lang="ko-KR" altLang="en-US" b="1" dirty="0"/>
              <a:t>현대 전기차 시장 규모 및 추세</a:t>
            </a:r>
            <a:endParaRPr lang="en-US" altLang="ko-KR" b="1" dirty="0"/>
          </a:p>
          <a:p>
            <a:pPr lvl="2"/>
            <a:r>
              <a:rPr lang="ko-KR" altLang="en-US" b="1" dirty="0"/>
              <a:t>연간 누적 </a:t>
            </a:r>
            <a:r>
              <a:rPr lang="ko-KR" altLang="en-US" b="1" dirty="0">
                <a:solidFill>
                  <a:srgbClr val="0070C0"/>
                </a:solidFill>
              </a:rPr>
              <a:t>글로벌 전기차 </a:t>
            </a:r>
            <a:r>
              <a:rPr lang="ko-KR" altLang="en-US" b="1" dirty="0" err="1">
                <a:solidFill>
                  <a:srgbClr val="0070C0"/>
                </a:solidFill>
              </a:rPr>
              <a:t>인도량</a:t>
            </a:r>
            <a:r>
              <a:rPr lang="ko-KR" altLang="en-US" b="1" dirty="0">
                <a:solidFill>
                  <a:srgbClr val="0070C0"/>
                </a:solidFill>
              </a:rPr>
              <a:t> 증가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3"/>
            <a:r>
              <a:rPr lang="ko-KR" altLang="en-US" b="1" dirty="0"/>
              <a:t>현대기아차는 </a:t>
            </a:r>
            <a:r>
              <a:rPr lang="en-US" altLang="ko-KR" b="1" dirty="0"/>
              <a:t>2025</a:t>
            </a:r>
            <a:r>
              <a:rPr lang="ko-KR" altLang="en-US" b="1" dirty="0"/>
              <a:t>년 상반기 </a:t>
            </a:r>
            <a:r>
              <a:rPr lang="en-US" altLang="ko-KR" b="1" dirty="0">
                <a:solidFill>
                  <a:srgbClr val="0070C0"/>
                </a:solidFill>
              </a:rPr>
              <a:t>29</a:t>
            </a:r>
            <a:r>
              <a:rPr lang="ko-KR" altLang="en-US" b="1" dirty="0">
                <a:solidFill>
                  <a:srgbClr val="0070C0"/>
                </a:solidFill>
              </a:rPr>
              <a:t>만 </a:t>
            </a:r>
            <a:r>
              <a:rPr lang="en-US" altLang="ko-KR" b="1" dirty="0">
                <a:solidFill>
                  <a:srgbClr val="0070C0"/>
                </a:solidFill>
              </a:rPr>
              <a:t>6</a:t>
            </a:r>
            <a:r>
              <a:rPr lang="ko-KR" altLang="en-US" b="1" dirty="0">
                <a:solidFill>
                  <a:srgbClr val="0070C0"/>
                </a:solidFill>
              </a:rPr>
              <a:t>천</a:t>
            </a:r>
            <a:r>
              <a:rPr lang="en-US" altLang="ko-KR" b="1" dirty="0">
                <a:solidFill>
                  <a:srgbClr val="0070C0"/>
                </a:solidFill>
              </a:rPr>
              <a:t> </a:t>
            </a:r>
            <a:r>
              <a:rPr lang="ko-KR" altLang="en-US" b="1" dirty="0">
                <a:solidFill>
                  <a:srgbClr val="0070C0"/>
                </a:solidFill>
              </a:rPr>
              <a:t>대</a:t>
            </a:r>
            <a:r>
              <a:rPr lang="ko-KR" altLang="en-US" b="1" dirty="0"/>
              <a:t>에서 </a:t>
            </a:r>
            <a:r>
              <a:rPr lang="en-US" altLang="ko-KR" b="1" dirty="0"/>
              <a:t>2026</a:t>
            </a:r>
            <a:r>
              <a:rPr lang="ko-KR" altLang="en-US" b="1" dirty="0"/>
              <a:t>년</a:t>
            </a:r>
            <a:r>
              <a:rPr lang="en-US" altLang="ko-KR" b="1" dirty="0"/>
              <a:t> </a:t>
            </a:r>
            <a:r>
              <a:rPr lang="ko-KR" altLang="en-US" b="1" dirty="0"/>
              <a:t>상반기 </a:t>
            </a:r>
            <a:r>
              <a:rPr lang="en-US" altLang="ko-KR" b="1" dirty="0">
                <a:solidFill>
                  <a:srgbClr val="0070C0"/>
                </a:solidFill>
              </a:rPr>
              <a:t>37</a:t>
            </a:r>
            <a:r>
              <a:rPr lang="ko-KR" altLang="en-US" b="1" dirty="0">
                <a:solidFill>
                  <a:srgbClr val="0070C0"/>
                </a:solidFill>
              </a:rPr>
              <a:t>만 대</a:t>
            </a:r>
            <a:r>
              <a:rPr lang="ko-KR" altLang="en-US" b="1" dirty="0"/>
              <a:t>로 전년 대비 </a:t>
            </a:r>
            <a:r>
              <a:rPr lang="en-US" altLang="ko-KR" b="1" dirty="0">
                <a:solidFill>
                  <a:srgbClr val="0070C0"/>
                </a:solidFill>
              </a:rPr>
              <a:t>25.3% </a:t>
            </a:r>
            <a:r>
              <a:rPr lang="ko-KR" altLang="en-US" b="1" dirty="0">
                <a:solidFill>
                  <a:srgbClr val="0070C0"/>
                </a:solidFill>
              </a:rPr>
              <a:t>성장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2"/>
            <a:endParaRPr lang="en-US" altLang="ko-KR" b="1" dirty="0"/>
          </a:p>
          <a:p>
            <a:pPr lvl="2"/>
            <a:r>
              <a:rPr lang="ko-KR" altLang="en-US" b="1" dirty="0"/>
              <a:t>현대차 </a:t>
            </a:r>
            <a:r>
              <a:rPr lang="ko-KR" altLang="en-US" b="1" dirty="0">
                <a:solidFill>
                  <a:srgbClr val="0070C0"/>
                </a:solidFill>
              </a:rPr>
              <a:t>핵심 미래사업 전략 </a:t>
            </a:r>
            <a:r>
              <a:rPr lang="ko-KR" altLang="en-US" b="1" dirty="0"/>
              <a:t>발표</a:t>
            </a:r>
            <a:endParaRPr lang="en-US" altLang="ko-KR" b="1" dirty="0"/>
          </a:p>
          <a:p>
            <a:pPr lvl="3"/>
            <a:r>
              <a:rPr lang="en-US" altLang="ko-KR" b="1" dirty="0"/>
              <a:t>2040</a:t>
            </a:r>
            <a:r>
              <a:rPr lang="ko-KR" altLang="en-US" b="1" dirty="0"/>
              <a:t>년까지 미국</a:t>
            </a:r>
            <a:r>
              <a:rPr lang="en-US" altLang="ko-KR" b="1" dirty="0"/>
              <a:t>, </a:t>
            </a:r>
            <a:r>
              <a:rPr lang="ko-KR" altLang="en-US" b="1" dirty="0"/>
              <a:t>유럽</a:t>
            </a:r>
            <a:r>
              <a:rPr lang="en-US" altLang="ko-KR" b="1" dirty="0"/>
              <a:t>, </a:t>
            </a:r>
            <a:r>
              <a:rPr lang="ko-KR" altLang="en-US" b="1" dirty="0"/>
              <a:t>중국 등 글로벌 주요 시장에서 </a:t>
            </a:r>
            <a:r>
              <a:rPr lang="ko-KR" altLang="en-US" b="1" dirty="0">
                <a:solidFill>
                  <a:srgbClr val="0070C0"/>
                </a:solidFill>
              </a:rPr>
              <a:t>제품 전 라인업 전동화 추진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3"/>
            <a:r>
              <a:rPr lang="ko-KR" altLang="en-US" b="1" dirty="0"/>
              <a:t>현대차의 전기차 비중을 </a:t>
            </a:r>
            <a:r>
              <a:rPr lang="en-US" altLang="ko-KR" b="1" dirty="0"/>
              <a:t>2020</a:t>
            </a:r>
            <a:r>
              <a:rPr lang="ko-KR" altLang="en-US" b="1" dirty="0"/>
              <a:t>년 </a:t>
            </a:r>
            <a:r>
              <a:rPr lang="en-US" altLang="ko-KR" b="1" dirty="0">
                <a:solidFill>
                  <a:srgbClr val="0070C0"/>
                </a:solidFill>
              </a:rPr>
              <a:t>5.6%</a:t>
            </a:r>
            <a:r>
              <a:rPr lang="ko-KR" altLang="en-US" b="1" dirty="0"/>
              <a:t>에서 </a:t>
            </a:r>
            <a:r>
              <a:rPr lang="en-US" altLang="ko-KR" b="1" dirty="0"/>
              <a:t>2040</a:t>
            </a:r>
            <a:r>
              <a:rPr lang="ko-KR" altLang="en-US" b="1" dirty="0"/>
              <a:t>년 </a:t>
            </a:r>
            <a:r>
              <a:rPr lang="en-US" altLang="ko-KR" b="1" dirty="0">
                <a:solidFill>
                  <a:srgbClr val="0070C0"/>
                </a:solidFill>
              </a:rPr>
              <a:t>78%</a:t>
            </a:r>
            <a:r>
              <a:rPr lang="ko-KR" altLang="en-US" b="1" dirty="0"/>
              <a:t>로 </a:t>
            </a:r>
            <a:r>
              <a:rPr lang="ko-KR" altLang="en-US" b="1" dirty="0">
                <a:solidFill>
                  <a:srgbClr val="0070C0"/>
                </a:solidFill>
              </a:rPr>
              <a:t>점진적 증가 계획 수립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3"/>
            <a:endParaRPr lang="en-US" altLang="ko-KR" b="1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ko-KR" altLang="en-US" b="1" dirty="0"/>
              <a:t>글로벌 전기차 </a:t>
            </a:r>
            <a:r>
              <a:rPr lang="ko-KR" altLang="en-US" b="1" dirty="0" err="1"/>
              <a:t>인도량</a:t>
            </a:r>
            <a:r>
              <a:rPr lang="ko-KR" altLang="en-US" b="1" dirty="0"/>
              <a:t> 증가 및 전기차 비중 확대 전략으로 </a:t>
            </a:r>
            <a:r>
              <a:rPr lang="ko-KR" altLang="en-US" b="1" dirty="0">
                <a:solidFill>
                  <a:srgbClr val="FF0000"/>
                </a:solidFill>
              </a:rPr>
              <a:t>현대 전기차 시장 규모 증가 전망</a:t>
            </a:r>
          </a:p>
          <a:p>
            <a:pPr marL="0" indent="0">
              <a:buNone/>
            </a:pPr>
            <a:endParaRPr lang="en-US" altLang="ko-KR" b="1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16B6079-E2FF-D381-F604-DC9FC2333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시장성 분석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7759DC-3581-0D8B-D1C6-DA0AB705E007}"/>
              </a:ext>
            </a:extLst>
          </p:cNvPr>
          <p:cNvSpPr txBox="1"/>
          <p:nvPr/>
        </p:nvSpPr>
        <p:spPr>
          <a:xfrm>
            <a:off x="9685540" y="5968865"/>
            <a:ext cx="19027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n w="9525">
                  <a:solidFill>
                    <a:schemeClr val="tx1"/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latin typeface="대한민국정부상징체 R" panose="02020503020101020101" pitchFamily="18" charset="-127"/>
                <a:ea typeface="대한민국정부상징체 R" panose="02020503020101020101" pitchFamily="18" charset="-127"/>
                <a:cs typeface="Tahoma" panose="020B0604030504040204" pitchFamily="34" charset="0"/>
              </a:rPr>
              <a:t>▲ </a:t>
            </a:r>
            <a:r>
              <a:rPr lang="ko-KR" altLang="en-US" sz="1000" dirty="0"/>
              <a:t>현대차 전기차 비중 전망</a:t>
            </a:r>
            <a:r>
              <a:rPr lang="en-US" altLang="ko-KR" sz="1000" baseline="30000" dirty="0"/>
              <a:t>[7]</a:t>
            </a:r>
            <a:endParaRPr lang="ko-KR" altLang="en-US" sz="1000" baseline="30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A8FE37-1C46-0E4A-E1E6-8EDFBBC12754}"/>
              </a:ext>
            </a:extLst>
          </p:cNvPr>
          <p:cNvSpPr txBox="1"/>
          <p:nvPr/>
        </p:nvSpPr>
        <p:spPr>
          <a:xfrm>
            <a:off x="9451064" y="3563471"/>
            <a:ext cx="23022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n w="9525">
                  <a:solidFill>
                    <a:schemeClr val="tx1"/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latin typeface="대한민국정부상징체 R" panose="02020503020101020101" pitchFamily="18" charset="-127"/>
                <a:ea typeface="대한민국정부상징체 R" panose="02020503020101020101" pitchFamily="18" charset="-127"/>
                <a:cs typeface="Tahoma" panose="020B0604030504040204" pitchFamily="34" charset="0"/>
              </a:rPr>
              <a:t>▲ </a:t>
            </a:r>
            <a:r>
              <a:rPr lang="ko-KR" altLang="en-US" sz="1000" dirty="0"/>
              <a:t>연간 누적 글로벌 전기차 </a:t>
            </a:r>
            <a:r>
              <a:rPr lang="ko-KR" altLang="en-US" sz="1000" dirty="0" err="1"/>
              <a:t>인도량</a:t>
            </a:r>
            <a:r>
              <a:rPr lang="en-US" altLang="ko-KR" sz="1000" baseline="30000" dirty="0"/>
              <a:t>[6]</a:t>
            </a:r>
            <a:endParaRPr lang="ko-KR" altLang="en-US" sz="1000" baseline="30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AD0447-11AB-0800-3D16-54D787C4D2AB}"/>
              </a:ext>
            </a:extLst>
          </p:cNvPr>
          <p:cNvSpPr txBox="1"/>
          <p:nvPr/>
        </p:nvSpPr>
        <p:spPr>
          <a:xfrm>
            <a:off x="7928882" y="0"/>
            <a:ext cx="42631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[6]</a:t>
            </a:r>
            <a:r>
              <a:rPr lang="ko-KR" altLang="en-US" sz="500" dirty="0"/>
              <a:t> 현대차그룹</a:t>
            </a:r>
            <a:r>
              <a:rPr lang="en-US" altLang="ko-KR" sz="500" dirty="0"/>
              <a:t>, </a:t>
            </a:r>
            <a:r>
              <a:rPr lang="ko-KR" altLang="en-US" sz="500" dirty="0"/>
              <a:t>올해 상반기 전기차 판매 </a:t>
            </a:r>
            <a:r>
              <a:rPr lang="en-US" altLang="ko-KR" sz="500" dirty="0"/>
              <a:t>25.3% </a:t>
            </a:r>
            <a:r>
              <a:rPr lang="ko-KR" altLang="en-US" sz="500" dirty="0"/>
              <a:t>급증</a:t>
            </a:r>
            <a:r>
              <a:rPr lang="en-US" altLang="ko-KR" sz="500" dirty="0"/>
              <a:t>... </a:t>
            </a:r>
            <a:r>
              <a:rPr lang="ko-KR" altLang="en-US" sz="500" dirty="0"/>
              <a:t>글로벌 </a:t>
            </a:r>
            <a:r>
              <a:rPr lang="en-US" altLang="ko-KR" sz="500" dirty="0"/>
              <a:t>8</a:t>
            </a:r>
            <a:r>
              <a:rPr lang="ko-KR" altLang="en-US" sz="500" dirty="0"/>
              <a:t>위로 도약</a:t>
            </a:r>
            <a:r>
              <a:rPr lang="en-US" altLang="ko-KR" sz="500" dirty="0"/>
              <a:t>. </a:t>
            </a:r>
            <a:r>
              <a:rPr lang="ko-KR" altLang="en-US" sz="500" dirty="0"/>
              <a:t>인사이트</a:t>
            </a:r>
            <a:r>
              <a:rPr lang="en-US" altLang="ko-KR" sz="500" dirty="0"/>
              <a:t>. (2026, August 7). </a:t>
            </a:r>
            <a:r>
              <a:rPr lang="en-US" altLang="ko-KR" sz="500" dirty="0">
                <a:hlinkClick r:id="rId4"/>
              </a:rPr>
              <a:t>https://www.insight.co.kr/news/566965</a:t>
            </a:r>
            <a:r>
              <a:rPr lang="en-US" altLang="ko-KR" sz="500" dirty="0"/>
              <a:t> </a:t>
            </a:r>
          </a:p>
          <a:p>
            <a:r>
              <a:rPr lang="en-US" altLang="ko-KR" sz="500" dirty="0"/>
              <a:t>[7] </a:t>
            </a:r>
            <a:r>
              <a:rPr lang="ko-KR" altLang="en-US" sz="500" dirty="0"/>
              <a:t>이재윤</a:t>
            </a:r>
            <a:r>
              <a:rPr lang="en-US" altLang="ko-KR" sz="500" dirty="0"/>
              <a:t>. (2020, December 10). [</a:t>
            </a:r>
            <a:r>
              <a:rPr lang="ko-KR" altLang="en-US" sz="500" dirty="0"/>
              <a:t>그래픽</a:t>
            </a:r>
            <a:r>
              <a:rPr lang="en-US" altLang="ko-KR" sz="500" dirty="0"/>
              <a:t>] </a:t>
            </a:r>
            <a:r>
              <a:rPr lang="ko-KR" altLang="en-US" sz="500" dirty="0"/>
              <a:t>현대차 전기차 비중 전망</a:t>
            </a:r>
            <a:r>
              <a:rPr lang="en-US" altLang="ko-KR" sz="500" dirty="0"/>
              <a:t>. </a:t>
            </a:r>
            <a:r>
              <a:rPr lang="ko-KR" altLang="en-US" sz="500" dirty="0"/>
              <a:t>연합뉴스</a:t>
            </a:r>
            <a:r>
              <a:rPr lang="en-US" altLang="ko-KR" sz="500" dirty="0"/>
              <a:t>. </a:t>
            </a:r>
            <a:r>
              <a:rPr lang="en-US" altLang="ko-KR" sz="500" dirty="0">
                <a:hlinkClick r:id="rId5"/>
              </a:rPr>
              <a:t>https://www.yna.co.kr/view/GYH20201210001800044</a:t>
            </a:r>
            <a:r>
              <a:rPr lang="en-US" altLang="ko-KR" sz="500" dirty="0"/>
              <a:t> </a:t>
            </a:r>
            <a:endParaRPr lang="ko-KR" altLang="en-US" sz="500" dirty="0"/>
          </a:p>
        </p:txBody>
      </p:sp>
      <p:pic>
        <p:nvPicPr>
          <p:cNvPr id="5" name="그림 4" descr="기사의 이해를 돕기 위해 AI로 생성된 이미지">
            <a:extLst>
              <a:ext uri="{FF2B5EF4-FFF2-40B4-BE49-F238E27FC236}">
                <a16:creationId xmlns:a16="http://schemas.microsoft.com/office/drawing/2014/main" id="{7442C32E-8A40-C773-D35A-1B8549ACAC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0056" y="687600"/>
            <a:ext cx="2302233" cy="2875871"/>
          </a:xfrm>
          <a:prstGeom prst="rect">
            <a:avLst/>
          </a:prstGeom>
        </p:spPr>
      </p:pic>
      <p:pic>
        <p:nvPicPr>
          <p:cNvPr id="6" name="그림 5" descr="[그래픽] 현대차 전기차 비중 전망">
            <a:extLst>
              <a:ext uri="{FF2B5EF4-FFF2-40B4-BE49-F238E27FC236}">
                <a16:creationId xmlns:a16="http://schemas.microsoft.com/office/drawing/2014/main" id="{018E8868-D1A0-3E88-DD4A-08D972AFE8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1170" y="3809692"/>
            <a:ext cx="1593470" cy="2159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414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B09397-209B-277A-E3D0-FE201DE1A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8CB1BCA-B24B-8A8A-7970-1C0AE4F87618}"/>
              </a:ext>
            </a:extLst>
          </p:cNvPr>
          <p:cNvSpPr txBox="1"/>
          <p:nvPr/>
        </p:nvSpPr>
        <p:spPr>
          <a:xfrm>
            <a:off x="1" y="2767280"/>
            <a:ext cx="121919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4000" b="1" dirty="0">
                <a:ln>
                  <a:solidFill>
                    <a:schemeClr val="tx1"/>
                  </a:solidFill>
                </a:ln>
                <a:solidFill>
                  <a:srgbClr val="002060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Tahoma" panose="020B0604030504040204" pitchFamily="34" charset="0"/>
              </a:rPr>
              <a:t>설계 목표</a:t>
            </a:r>
            <a:endParaRPr lang="ko-KR" altLang="en-US" sz="4000" b="1" dirty="0">
              <a:ln>
                <a:solidFill>
                  <a:schemeClr val="tx1"/>
                </a:solidFill>
              </a:ln>
              <a:solidFill>
                <a:srgbClr val="002060"/>
              </a:solidFill>
              <a:latin typeface="한컴산뜻돋움" panose="02000000000000000000" pitchFamily="2" charset="-127"/>
              <a:ea typeface="한컴산뜻돋움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5846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 t="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AE6426-4AC8-9AD5-4819-5CA8C9541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49FE387-48AE-B939-84A6-916EF36F4D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b="1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D6E780F-E56E-F1A7-1A77-F96C3DDCB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공정 흐름도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E0633E4-0313-05FA-9A95-5696F8D110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903" y="687600"/>
            <a:ext cx="11811582" cy="531710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AC8E90B-7D92-5637-C446-11385387F62A}"/>
              </a:ext>
            </a:extLst>
          </p:cNvPr>
          <p:cNvSpPr txBox="1"/>
          <p:nvPr/>
        </p:nvSpPr>
        <p:spPr>
          <a:xfrm>
            <a:off x="5402684" y="5969052"/>
            <a:ext cx="13340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n w="9525">
                  <a:solidFill>
                    <a:schemeClr val="tx1"/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latin typeface="대한민국정부상징체 R" panose="02020503020101020101" pitchFamily="18" charset="-127"/>
                <a:ea typeface="대한민국정부상징체 R" panose="02020503020101020101" pitchFamily="18" charset="-127"/>
                <a:cs typeface="Tahoma" panose="020B0604030504040204" pitchFamily="34" charset="0"/>
              </a:rPr>
              <a:t>▲ </a:t>
            </a:r>
            <a:r>
              <a:rPr lang="ko-KR" altLang="en-US" sz="1000" dirty="0"/>
              <a:t>공정 설계 흐름도</a:t>
            </a:r>
            <a:endParaRPr lang="ko-KR" altLang="en-US" sz="1000" baseline="30000" dirty="0"/>
          </a:p>
        </p:txBody>
      </p:sp>
    </p:spTree>
    <p:extLst>
      <p:ext uri="{BB962C8B-B14F-4D97-AF65-F5344CB8AC3E}">
        <p14:creationId xmlns:p14="http://schemas.microsoft.com/office/powerpoint/2010/main" val="1742851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 t="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6FFAEA-A991-8B0D-29AC-75BE85A16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B2A503B-15B3-644A-82F5-D14E9019F8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b="1" dirty="0"/>
              <a:t>1</a:t>
            </a:r>
            <a:r>
              <a:rPr lang="ko-KR" altLang="en-US" b="1" dirty="0"/>
              <a:t>차 공정</a:t>
            </a:r>
            <a:endParaRPr lang="en-US" altLang="ko-KR" b="1" dirty="0"/>
          </a:p>
          <a:p>
            <a:pPr lvl="1"/>
            <a:r>
              <a:rPr lang="ko-KR" altLang="en-US" b="1" dirty="0"/>
              <a:t>배터리 팩 조립</a:t>
            </a:r>
            <a:endParaRPr lang="en-US" altLang="ko-KR" b="1" dirty="0"/>
          </a:p>
          <a:p>
            <a:pPr lvl="2"/>
            <a:r>
              <a:rPr lang="ko-KR" altLang="en-US" b="1" dirty="0"/>
              <a:t>전극공정</a:t>
            </a:r>
            <a:r>
              <a:rPr lang="en-US" altLang="ko-KR" b="1" dirty="0"/>
              <a:t>, </a:t>
            </a:r>
            <a:r>
              <a:rPr lang="ko-KR" altLang="en-US" b="1" dirty="0"/>
              <a:t>조립공정</a:t>
            </a:r>
            <a:r>
              <a:rPr lang="en-US" altLang="ko-KR" b="1" dirty="0"/>
              <a:t>, </a:t>
            </a:r>
            <a:r>
              <a:rPr lang="ko-KR" altLang="en-US" b="1" dirty="0"/>
              <a:t>활성화공정</a:t>
            </a:r>
            <a:r>
              <a:rPr lang="en-US" altLang="ko-KR" b="1" dirty="0"/>
              <a:t>, MTP</a:t>
            </a:r>
            <a:r>
              <a:rPr lang="ko-KR" altLang="en-US" b="1" dirty="0"/>
              <a:t>공정을 마친 배터리 팩 부품에 상부 하우징 부착</a:t>
            </a:r>
            <a:endParaRPr lang="en-US" altLang="ko-KR" b="1" dirty="0"/>
          </a:p>
          <a:p>
            <a:pPr lvl="1"/>
            <a:endParaRPr lang="en-US" altLang="ko-KR" b="1" dirty="0"/>
          </a:p>
          <a:p>
            <a:pPr lvl="1"/>
            <a:r>
              <a:rPr lang="en-US" altLang="ko-KR" b="1" dirty="0"/>
              <a:t>ICCU(</a:t>
            </a:r>
            <a:r>
              <a:rPr lang="ko-KR" altLang="en-US" b="1" dirty="0"/>
              <a:t>통합충전제어장치</a:t>
            </a:r>
            <a:r>
              <a:rPr lang="en-US" altLang="ko-KR" b="1" dirty="0"/>
              <a:t>) </a:t>
            </a:r>
            <a:r>
              <a:rPr lang="ko-KR" altLang="en-US" b="1" dirty="0"/>
              <a:t>내부 기능 결함 검사</a:t>
            </a:r>
            <a:endParaRPr lang="en-US" altLang="ko-KR" b="1" dirty="0"/>
          </a:p>
          <a:p>
            <a:pPr lvl="2"/>
            <a:r>
              <a:rPr lang="en-US" altLang="ko-KR" b="1" dirty="0"/>
              <a:t>ICCU </a:t>
            </a:r>
            <a:r>
              <a:rPr lang="ko-KR" altLang="en-US" b="1" dirty="0"/>
              <a:t>결함 완화</a:t>
            </a:r>
            <a:endParaRPr lang="en-US" altLang="ko-KR" b="1" dirty="0"/>
          </a:p>
          <a:p>
            <a:pPr lvl="3"/>
            <a:r>
              <a:rPr lang="en-US" altLang="ko-KR" b="1" dirty="0"/>
              <a:t>ICCU </a:t>
            </a:r>
            <a:r>
              <a:rPr lang="ko-KR" altLang="en-US" b="1" dirty="0"/>
              <a:t>결함 증상</a:t>
            </a:r>
            <a:endParaRPr lang="en-US" altLang="ko-KR" b="1" dirty="0"/>
          </a:p>
          <a:p>
            <a:pPr lvl="4"/>
            <a:r>
              <a:rPr lang="ko-KR" altLang="en-US" b="1" dirty="0" err="1"/>
              <a:t>저전압</a:t>
            </a:r>
            <a:r>
              <a:rPr lang="ko-KR" altLang="en-US" b="1" dirty="0"/>
              <a:t> 배터리</a:t>
            </a:r>
            <a:r>
              <a:rPr lang="en-US" altLang="ko-KR" b="1" dirty="0"/>
              <a:t>(12V </a:t>
            </a:r>
            <a:r>
              <a:rPr lang="ko-KR" altLang="en-US" b="1" dirty="0"/>
              <a:t>보조배터리</a:t>
            </a:r>
            <a:r>
              <a:rPr lang="en-US" altLang="ko-KR" b="1" dirty="0"/>
              <a:t>)</a:t>
            </a:r>
            <a:r>
              <a:rPr lang="ko-KR" altLang="en-US" b="1" dirty="0"/>
              <a:t> </a:t>
            </a:r>
            <a:r>
              <a:rPr lang="ko-KR" altLang="en-US" b="1" dirty="0">
                <a:solidFill>
                  <a:srgbClr val="FF0000"/>
                </a:solidFill>
              </a:rPr>
              <a:t>충전 중단</a:t>
            </a:r>
            <a:endParaRPr lang="en-US" altLang="ko-KR" b="1" dirty="0">
              <a:solidFill>
                <a:srgbClr val="FF0000"/>
              </a:solidFill>
            </a:endParaRPr>
          </a:p>
          <a:p>
            <a:pPr lvl="4"/>
            <a:r>
              <a:rPr lang="ko-KR" altLang="en-US" b="1" dirty="0"/>
              <a:t>계기판 출력 제한 </a:t>
            </a:r>
            <a:r>
              <a:rPr lang="ko-KR" altLang="en-US" b="1" dirty="0">
                <a:solidFill>
                  <a:srgbClr val="FF0000"/>
                </a:solidFill>
              </a:rPr>
              <a:t>경고등 점등</a:t>
            </a:r>
            <a:endParaRPr lang="en-US" altLang="ko-KR" b="1" dirty="0">
              <a:solidFill>
                <a:srgbClr val="FF0000"/>
              </a:solidFill>
            </a:endParaRPr>
          </a:p>
          <a:p>
            <a:pPr lvl="4"/>
            <a:r>
              <a:rPr lang="ko-KR" altLang="en-US" b="1" dirty="0"/>
              <a:t>방치 시 주행 중 차량이 완전히 멈추는 </a:t>
            </a:r>
            <a:r>
              <a:rPr lang="ko-KR" altLang="en-US" b="1" dirty="0">
                <a:solidFill>
                  <a:srgbClr val="FF0000"/>
                </a:solidFill>
              </a:rPr>
              <a:t>벽돌현상 발생</a:t>
            </a:r>
            <a:endParaRPr lang="en-US" altLang="ko-KR" b="1" dirty="0">
              <a:solidFill>
                <a:srgbClr val="FF0000"/>
              </a:solidFill>
            </a:endParaRPr>
          </a:p>
          <a:p>
            <a:pPr lvl="3"/>
            <a:endParaRPr lang="en-US" altLang="ko-KR" b="1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E697149-66F2-30E4-C03A-0ACC8D738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공정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E7FB60-A4A3-137B-1FCF-F8BA26F129F3}"/>
              </a:ext>
            </a:extLst>
          </p:cNvPr>
          <p:cNvSpPr txBox="1"/>
          <p:nvPr/>
        </p:nvSpPr>
        <p:spPr>
          <a:xfrm>
            <a:off x="9748472" y="2750568"/>
            <a:ext cx="14129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n w="9525">
                  <a:solidFill>
                    <a:schemeClr val="tx1"/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latin typeface="대한민국정부상징체 R" panose="02020503020101020101" pitchFamily="18" charset="-127"/>
                <a:ea typeface="대한민국정부상징체 R" panose="02020503020101020101" pitchFamily="18" charset="-127"/>
                <a:cs typeface="Tahoma" panose="020B0604030504040204" pitchFamily="34" charset="0"/>
              </a:rPr>
              <a:t>▲ </a:t>
            </a:r>
            <a:r>
              <a:rPr lang="ko-KR" altLang="en-US" sz="1000" dirty="0"/>
              <a:t>배터리 팩 구성품</a:t>
            </a:r>
            <a:r>
              <a:rPr lang="en-US" altLang="ko-KR" sz="1000" baseline="30000" dirty="0"/>
              <a:t>[8]</a:t>
            </a:r>
            <a:endParaRPr lang="ko-KR" altLang="en-US" sz="1000" baseline="30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4E2AC6-68F0-A3EF-1DA9-E48911521BD4}"/>
              </a:ext>
            </a:extLst>
          </p:cNvPr>
          <p:cNvSpPr txBox="1"/>
          <p:nvPr/>
        </p:nvSpPr>
        <p:spPr>
          <a:xfrm>
            <a:off x="6693626" y="0"/>
            <a:ext cx="54983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[8] Free-Nomad. (2021, September 12). </a:t>
            </a:r>
            <a:r>
              <a:rPr lang="ko-KR" altLang="en-US" sz="500" dirty="0"/>
              <a:t>배터리 팩에 대한 이해</a:t>
            </a:r>
            <a:r>
              <a:rPr lang="en-US" altLang="ko-KR" sz="500" dirty="0"/>
              <a:t>(analysis of battery pack, Battery System). Engineering insight. </a:t>
            </a:r>
            <a:r>
              <a:rPr lang="en-US" altLang="ko-KR" sz="500" dirty="0">
                <a:hlinkClick r:id="rId4"/>
              </a:rPr>
              <a:t>https://limitsinx.tistory.com/14</a:t>
            </a:r>
            <a:endParaRPr lang="en-US" altLang="ko-KR" sz="500" dirty="0"/>
          </a:p>
          <a:p>
            <a:r>
              <a:rPr lang="en-US" altLang="ko-KR" sz="500" dirty="0"/>
              <a:t>[9] </a:t>
            </a:r>
            <a:r>
              <a:rPr lang="ko-KR" altLang="en-US" sz="500" dirty="0" err="1"/>
              <a:t>인더스트리뉴스</a:t>
            </a:r>
            <a:r>
              <a:rPr lang="en-US" altLang="ko-KR" sz="500" dirty="0"/>
              <a:t>. (2024, December 4). </a:t>
            </a:r>
            <a:r>
              <a:rPr lang="ko-KR" altLang="en-US" sz="500" dirty="0"/>
              <a:t>현대차</a:t>
            </a:r>
            <a:r>
              <a:rPr lang="en-US" altLang="ko-KR" sz="500" dirty="0"/>
              <a:t>·</a:t>
            </a:r>
            <a:r>
              <a:rPr lang="ko-KR" altLang="en-US" sz="500" dirty="0"/>
              <a:t>기아 </a:t>
            </a:r>
            <a:r>
              <a:rPr lang="en-US" altLang="ko-KR" sz="500" dirty="0"/>
              <a:t>EV, </a:t>
            </a:r>
            <a:r>
              <a:rPr lang="ko-KR" altLang="en-US" sz="500" dirty="0"/>
              <a:t>고질병 </a:t>
            </a:r>
            <a:r>
              <a:rPr lang="en-US" altLang="ko-KR" sz="500" dirty="0"/>
              <a:t>ICCU </a:t>
            </a:r>
            <a:r>
              <a:rPr lang="ko-KR" altLang="en-US" sz="500" dirty="0"/>
              <a:t>결함으로 약 </a:t>
            </a:r>
            <a:r>
              <a:rPr lang="en-US" altLang="ko-KR" sz="500" dirty="0"/>
              <a:t>18</a:t>
            </a:r>
            <a:r>
              <a:rPr lang="ko-KR" altLang="en-US" sz="500" dirty="0"/>
              <a:t>만대 또 “리콜</a:t>
            </a:r>
            <a:r>
              <a:rPr lang="en-US" altLang="ko-KR" sz="500" dirty="0"/>
              <a:t>.” </a:t>
            </a:r>
            <a:r>
              <a:rPr lang="ko-KR" altLang="en-US" sz="500" dirty="0" err="1"/>
              <a:t>인더스트리뉴스</a:t>
            </a:r>
            <a:r>
              <a:rPr lang="en-US" altLang="ko-KR" sz="500" dirty="0"/>
              <a:t>. </a:t>
            </a:r>
            <a:r>
              <a:rPr lang="en-US" altLang="ko-KR" sz="500" dirty="0">
                <a:hlinkClick r:id="rId5"/>
              </a:rPr>
              <a:t>https://www.industrynews.co.kr/news/articleView.html?idxno=57678</a:t>
            </a:r>
            <a:r>
              <a:rPr lang="en-US" altLang="ko-KR" sz="500" dirty="0"/>
              <a:t>    </a:t>
            </a:r>
            <a:endParaRPr lang="ko-KR" altLang="en-US" sz="500" dirty="0"/>
          </a:p>
        </p:txBody>
      </p:sp>
      <p:pic>
        <p:nvPicPr>
          <p:cNvPr id="9" name="그림 8" descr="배터리 팩에 대한 이해(Analysis of Battery Pack, Battery System)">
            <a:extLst>
              <a:ext uri="{FF2B5EF4-FFF2-40B4-BE49-F238E27FC236}">
                <a16:creationId xmlns:a16="http://schemas.microsoft.com/office/drawing/2014/main" id="{E2576A6C-19B1-8C75-0424-3822BADC42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4450" y="821969"/>
            <a:ext cx="3041036" cy="19285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9E8988E-04B8-D87D-22A9-EAE4C6C1B36A}"/>
              </a:ext>
            </a:extLst>
          </p:cNvPr>
          <p:cNvSpPr txBox="1"/>
          <p:nvPr/>
        </p:nvSpPr>
        <p:spPr>
          <a:xfrm>
            <a:off x="9335970" y="5604686"/>
            <a:ext cx="21236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ln w="9525">
                  <a:solidFill>
                    <a:schemeClr val="tx1"/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latin typeface="대한민국정부상징체 R" panose="02020503020101020101" pitchFamily="18" charset="-127"/>
                <a:ea typeface="대한민국정부상징체 R" panose="02020503020101020101" pitchFamily="18" charset="-127"/>
                <a:cs typeface="Tahoma" panose="020B0604030504040204" pitchFamily="34" charset="0"/>
              </a:rPr>
              <a:t>▲ </a:t>
            </a:r>
            <a:r>
              <a:rPr lang="ko-KR" altLang="en-US" sz="1000" dirty="0"/>
              <a:t>현대차 </a:t>
            </a:r>
            <a:r>
              <a:rPr lang="en-US" altLang="ko-KR" sz="1000" dirty="0"/>
              <a:t>ICCU </a:t>
            </a:r>
            <a:r>
              <a:rPr lang="ko-KR" altLang="en-US" sz="1000" dirty="0"/>
              <a:t>소프트웨어 오류 자발적 시정조치</a:t>
            </a:r>
            <a:r>
              <a:rPr lang="en-US" altLang="ko-KR" sz="1000" baseline="30000" dirty="0"/>
              <a:t>[9]</a:t>
            </a:r>
            <a:endParaRPr lang="ko-KR" altLang="en-US" sz="1000" baseline="30000" dirty="0"/>
          </a:p>
        </p:txBody>
      </p:sp>
      <p:pic>
        <p:nvPicPr>
          <p:cNvPr id="14" name="그림 13" descr="현대차·기아 EV, 고질병 ICCU 결함으로 약 18만대 또 '리콜' &lt; 산업 &lt; 산업 &lt; 기사본문 - 인더스트리뉴스">
            <a:extLst>
              <a:ext uri="{FF2B5EF4-FFF2-40B4-BE49-F238E27FC236}">
                <a16:creationId xmlns:a16="http://schemas.microsoft.com/office/drawing/2014/main" id="{6C5687DC-BB51-CFDB-FC63-BC08DEEFEF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1528" y="3207265"/>
            <a:ext cx="3086808" cy="239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655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 t="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0364C8-E95E-F0C1-DFAF-C101B0A4B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37E5E8B-4C9E-CAFB-A036-CA6F5F354C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b="1" dirty="0"/>
              <a:t>2</a:t>
            </a:r>
            <a:r>
              <a:rPr lang="ko-KR" altLang="en-US" b="1" dirty="0"/>
              <a:t>차 공정</a:t>
            </a:r>
            <a:endParaRPr lang="en-US" altLang="ko-KR" b="1" dirty="0"/>
          </a:p>
          <a:p>
            <a:pPr lvl="1"/>
            <a:r>
              <a:rPr lang="ko-KR" altLang="en-US" b="1" dirty="0"/>
              <a:t>배터리 팩 </a:t>
            </a:r>
            <a:r>
              <a:rPr lang="en-US" altLang="ko-KR" b="1" dirty="0"/>
              <a:t>– </a:t>
            </a:r>
            <a:r>
              <a:rPr lang="ko-KR" altLang="en-US" b="1" dirty="0"/>
              <a:t>차체 결합</a:t>
            </a:r>
            <a:endParaRPr lang="en-US" altLang="ko-KR" b="1" dirty="0"/>
          </a:p>
          <a:p>
            <a:pPr lvl="2"/>
            <a:r>
              <a:rPr lang="en-US" altLang="ko-KR" b="1" dirty="0"/>
              <a:t>1</a:t>
            </a:r>
            <a:r>
              <a:rPr lang="ko-KR" altLang="en-US" b="1" dirty="0"/>
              <a:t>차 공정을 거친 배터리 팩을 전기차 프레임 하부와 결합</a:t>
            </a:r>
            <a:endParaRPr lang="en-US" altLang="ko-KR" b="1" dirty="0"/>
          </a:p>
          <a:p>
            <a:pPr lvl="2"/>
            <a:endParaRPr lang="en-US" altLang="ko-KR" b="1" dirty="0"/>
          </a:p>
          <a:p>
            <a:r>
              <a:rPr lang="en-US" altLang="ko-KR" b="1" dirty="0"/>
              <a:t>3</a:t>
            </a:r>
            <a:r>
              <a:rPr lang="ko-KR" altLang="en-US" b="1" dirty="0"/>
              <a:t>차 공정</a:t>
            </a:r>
            <a:endParaRPr lang="en-US" altLang="ko-KR" b="1" dirty="0"/>
          </a:p>
          <a:p>
            <a:pPr lvl="1"/>
            <a:r>
              <a:rPr lang="ko-KR" altLang="en-US" b="1" dirty="0"/>
              <a:t>전기차 의장 조립</a:t>
            </a:r>
            <a:endParaRPr lang="en-US" altLang="ko-KR" b="1" dirty="0"/>
          </a:p>
          <a:p>
            <a:pPr lvl="2"/>
            <a:r>
              <a:rPr lang="ko-KR" altLang="en-US" b="1" dirty="0"/>
              <a:t>배터리 팩과 결합된 차체를 </a:t>
            </a:r>
            <a:r>
              <a:rPr lang="ko-KR" altLang="en-US" b="1" dirty="0" err="1"/>
              <a:t>스키드에</a:t>
            </a:r>
            <a:r>
              <a:rPr lang="ko-KR" altLang="en-US" b="1" dirty="0"/>
              <a:t> 적재</a:t>
            </a:r>
            <a:endParaRPr lang="en-US" altLang="ko-KR" b="1" dirty="0"/>
          </a:p>
          <a:p>
            <a:pPr lvl="3"/>
            <a:r>
              <a:rPr lang="ko-KR" altLang="en-US" b="1" dirty="0" err="1">
                <a:solidFill>
                  <a:srgbClr val="0070C0"/>
                </a:solidFill>
              </a:rPr>
              <a:t>칵핏</a:t>
            </a:r>
            <a:r>
              <a:rPr lang="ko-KR" altLang="en-US" b="1" dirty="0">
                <a:solidFill>
                  <a:srgbClr val="0070C0"/>
                </a:solidFill>
              </a:rPr>
              <a:t> </a:t>
            </a:r>
            <a:r>
              <a:rPr lang="en-US" altLang="ko-KR" b="1" dirty="0">
                <a:solidFill>
                  <a:srgbClr val="0070C0"/>
                </a:solidFill>
              </a:rPr>
              <a:t>→ </a:t>
            </a:r>
            <a:r>
              <a:rPr lang="ko-KR" altLang="en-US" b="1" dirty="0">
                <a:solidFill>
                  <a:srgbClr val="0070C0"/>
                </a:solidFill>
              </a:rPr>
              <a:t>앞 범퍼</a:t>
            </a:r>
            <a:r>
              <a:rPr lang="en-US" altLang="ko-KR" b="1" dirty="0">
                <a:solidFill>
                  <a:srgbClr val="0070C0"/>
                </a:solidFill>
              </a:rPr>
              <a:t> → </a:t>
            </a:r>
            <a:r>
              <a:rPr lang="ko-KR" altLang="en-US" b="1" dirty="0">
                <a:solidFill>
                  <a:srgbClr val="0070C0"/>
                </a:solidFill>
              </a:rPr>
              <a:t>앞 유리 </a:t>
            </a:r>
            <a:r>
              <a:rPr lang="en-US" altLang="ko-KR" b="1" dirty="0">
                <a:solidFill>
                  <a:srgbClr val="0070C0"/>
                </a:solidFill>
              </a:rPr>
              <a:t>→ </a:t>
            </a:r>
            <a:r>
              <a:rPr lang="ko-KR" altLang="en-US" b="1" dirty="0">
                <a:solidFill>
                  <a:srgbClr val="0070C0"/>
                </a:solidFill>
              </a:rPr>
              <a:t>문 장착 및 용접</a:t>
            </a:r>
            <a:r>
              <a:rPr lang="en-US" altLang="ko-KR" b="1" dirty="0">
                <a:solidFill>
                  <a:srgbClr val="0070C0"/>
                </a:solidFill>
              </a:rPr>
              <a:t> </a:t>
            </a:r>
            <a:r>
              <a:rPr lang="ko-KR" altLang="en-US" b="1" dirty="0"/>
              <a:t>순으로 진행</a:t>
            </a:r>
            <a:endParaRPr lang="en-US" altLang="ko-KR" b="1" dirty="0"/>
          </a:p>
          <a:p>
            <a:pPr lvl="2"/>
            <a:endParaRPr lang="en-US" altLang="ko-KR" b="1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245F233-2311-C982-C3A8-749C6E6B4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공정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08E693-81E1-296F-E795-01C02B053C16}"/>
              </a:ext>
            </a:extLst>
          </p:cNvPr>
          <p:cNvSpPr txBox="1"/>
          <p:nvPr/>
        </p:nvSpPr>
        <p:spPr>
          <a:xfrm>
            <a:off x="1117612" y="5509591"/>
            <a:ext cx="11160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n w="9525">
                  <a:solidFill>
                    <a:schemeClr val="tx1"/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latin typeface="대한민국정부상징체 R" panose="02020503020101020101" pitchFamily="18" charset="-127"/>
                <a:ea typeface="대한민국정부상징체 R" panose="02020503020101020101" pitchFamily="18" charset="-127"/>
                <a:cs typeface="Tahoma" panose="020B0604030504040204" pitchFamily="34" charset="0"/>
              </a:rPr>
              <a:t>▲ </a:t>
            </a:r>
            <a:r>
              <a:rPr lang="en-US" altLang="ko-KR" sz="1000" dirty="0"/>
              <a:t>CP </a:t>
            </a:r>
            <a:r>
              <a:rPr lang="ko-KR" altLang="en-US" sz="1000" dirty="0"/>
              <a:t>조립 공정</a:t>
            </a:r>
            <a:endParaRPr lang="ko-KR" altLang="en-US" sz="1000" baseline="30000" dirty="0"/>
          </a:p>
        </p:txBody>
      </p:sp>
      <p:pic>
        <p:nvPicPr>
          <p:cNvPr id="5" name="Image 0" descr="/home/claude/img/proc_cp.png">
            <a:extLst>
              <a:ext uri="{FF2B5EF4-FFF2-40B4-BE49-F238E27FC236}">
                <a16:creationId xmlns:a16="http://schemas.microsoft.com/office/drawing/2014/main" id="{BBA8B138-59BA-688D-47E3-2AB9CEB1B9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388" y="4137991"/>
            <a:ext cx="2428461" cy="1371600"/>
          </a:xfrm>
          <a:prstGeom prst="rect">
            <a:avLst/>
          </a:prstGeom>
        </p:spPr>
      </p:pic>
      <p:pic>
        <p:nvPicPr>
          <p:cNvPr id="8" name="Image 1" descr="/home/claude/img/proc_fem.png">
            <a:extLst>
              <a:ext uri="{FF2B5EF4-FFF2-40B4-BE49-F238E27FC236}">
                <a16:creationId xmlns:a16="http://schemas.microsoft.com/office/drawing/2014/main" id="{2DF63C00-45CA-5BC1-2654-4C59DC0F5D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7932" y="4137990"/>
            <a:ext cx="2428460" cy="1371599"/>
          </a:xfrm>
          <a:prstGeom prst="rect">
            <a:avLst/>
          </a:prstGeom>
        </p:spPr>
      </p:pic>
      <p:pic>
        <p:nvPicPr>
          <p:cNvPr id="14" name="Image 2" descr="/home/claude/img/proc_glass.png">
            <a:extLst>
              <a:ext uri="{FF2B5EF4-FFF2-40B4-BE49-F238E27FC236}">
                <a16:creationId xmlns:a16="http://schemas.microsoft.com/office/drawing/2014/main" id="{36A93FC5-0116-BEDF-3E50-5B18F46308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4475" y="4137990"/>
            <a:ext cx="2428460" cy="1371599"/>
          </a:xfrm>
          <a:prstGeom prst="rect">
            <a:avLst/>
          </a:prstGeom>
        </p:spPr>
      </p:pic>
      <p:pic>
        <p:nvPicPr>
          <p:cNvPr id="17" name="Image 3" descr="/home/claude/img/proc_door.png">
            <a:extLst>
              <a:ext uri="{FF2B5EF4-FFF2-40B4-BE49-F238E27FC236}">
                <a16:creationId xmlns:a16="http://schemas.microsoft.com/office/drawing/2014/main" id="{7E4064D2-A918-7F1C-9186-CB9F551E0F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41018" y="4137990"/>
            <a:ext cx="2428459" cy="13716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780BBF3-6DDB-9F52-F97D-A4BCD1240282}"/>
              </a:ext>
            </a:extLst>
          </p:cNvPr>
          <p:cNvSpPr txBox="1"/>
          <p:nvPr/>
        </p:nvSpPr>
        <p:spPr>
          <a:xfrm>
            <a:off x="3998471" y="5509588"/>
            <a:ext cx="12073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n w="9525">
                  <a:solidFill>
                    <a:schemeClr val="tx1"/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latin typeface="대한민국정부상징체 R" panose="02020503020101020101" pitchFamily="18" charset="-127"/>
                <a:ea typeface="대한민국정부상징체 R" panose="02020503020101020101" pitchFamily="18" charset="-127"/>
                <a:cs typeface="Tahoma" panose="020B0604030504040204" pitchFamily="34" charset="0"/>
              </a:rPr>
              <a:t>▲ </a:t>
            </a:r>
            <a:r>
              <a:rPr lang="en-US" altLang="ko-KR" sz="1000" dirty="0"/>
              <a:t>FEM </a:t>
            </a:r>
            <a:r>
              <a:rPr lang="ko-KR" altLang="en-US" sz="1000" dirty="0"/>
              <a:t>조립 공정</a:t>
            </a:r>
            <a:endParaRPr lang="ko-KR" altLang="en-US" sz="1000" baseline="30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7C4929-9DFE-2B27-CCE6-0076C74AEA9E}"/>
              </a:ext>
            </a:extLst>
          </p:cNvPr>
          <p:cNvSpPr txBox="1"/>
          <p:nvPr/>
        </p:nvSpPr>
        <p:spPr>
          <a:xfrm>
            <a:off x="6812558" y="5509588"/>
            <a:ext cx="13901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n w="9525">
                  <a:solidFill>
                    <a:schemeClr val="tx1"/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latin typeface="대한민국정부상징체 R" panose="02020503020101020101" pitchFamily="18" charset="-127"/>
                <a:ea typeface="대한민국정부상징체 R" panose="02020503020101020101" pitchFamily="18" charset="-127"/>
                <a:cs typeface="Tahoma" panose="020B0604030504040204" pitchFamily="34" charset="0"/>
              </a:rPr>
              <a:t>▲ </a:t>
            </a:r>
            <a:r>
              <a:rPr lang="ko-KR" altLang="en-US" sz="1000" dirty="0"/>
              <a:t>앞 유리</a:t>
            </a:r>
            <a:r>
              <a:rPr lang="en-US" altLang="ko-KR" sz="1000" dirty="0"/>
              <a:t> </a:t>
            </a:r>
            <a:r>
              <a:rPr lang="ko-KR" altLang="en-US" sz="1000" dirty="0"/>
              <a:t>조립 공정</a:t>
            </a:r>
            <a:endParaRPr lang="ko-KR" altLang="en-US" sz="1000" baseline="30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4E13E2-BCAF-5688-3782-F305F9B25061}"/>
              </a:ext>
            </a:extLst>
          </p:cNvPr>
          <p:cNvSpPr txBox="1"/>
          <p:nvPr/>
        </p:nvSpPr>
        <p:spPr>
          <a:xfrm>
            <a:off x="9673457" y="5509590"/>
            <a:ext cx="15632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n w="9525">
                  <a:solidFill>
                    <a:schemeClr val="tx1"/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latin typeface="대한민국정부상징체 R" panose="02020503020101020101" pitchFamily="18" charset="-127"/>
                <a:ea typeface="대한민국정부상징체 R" panose="02020503020101020101" pitchFamily="18" charset="-127"/>
                <a:cs typeface="Tahoma" panose="020B0604030504040204" pitchFamily="34" charset="0"/>
              </a:rPr>
              <a:t>▲ </a:t>
            </a:r>
            <a:r>
              <a:rPr lang="ko-KR" altLang="en-US" sz="1000" dirty="0"/>
              <a:t>문</a:t>
            </a:r>
            <a:r>
              <a:rPr lang="en-US" altLang="ko-KR" sz="1000" dirty="0"/>
              <a:t> </a:t>
            </a:r>
            <a:r>
              <a:rPr lang="ko-KR" altLang="en-US" sz="1000" dirty="0"/>
              <a:t>조립 및 용접 공정</a:t>
            </a:r>
            <a:endParaRPr lang="ko-KR" altLang="en-US" sz="1000" baseline="30000" dirty="0"/>
          </a:p>
        </p:txBody>
      </p:sp>
    </p:spTree>
    <p:extLst>
      <p:ext uri="{BB962C8B-B14F-4D97-AF65-F5344CB8AC3E}">
        <p14:creationId xmlns:p14="http://schemas.microsoft.com/office/powerpoint/2010/main" val="93214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793899-FF1D-CA7C-2EB5-B094862AD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DF6F261-0B64-65E6-334C-3131573F86EF}"/>
              </a:ext>
            </a:extLst>
          </p:cNvPr>
          <p:cNvSpPr txBox="1"/>
          <p:nvPr/>
        </p:nvSpPr>
        <p:spPr>
          <a:xfrm>
            <a:off x="1" y="2767280"/>
            <a:ext cx="121919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4000" b="1" dirty="0">
                <a:ln>
                  <a:solidFill>
                    <a:schemeClr val="tx1"/>
                  </a:solidFill>
                </a:ln>
                <a:solidFill>
                  <a:srgbClr val="002060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Tahoma" panose="020B0604030504040204" pitchFamily="34" charset="0"/>
              </a:rPr>
              <a:t>기대 효과 및 향후 계획</a:t>
            </a:r>
            <a:endParaRPr lang="ko-KR" altLang="en-US" sz="4000" b="1" dirty="0">
              <a:ln>
                <a:solidFill>
                  <a:schemeClr val="tx1"/>
                </a:solidFill>
              </a:ln>
              <a:solidFill>
                <a:srgbClr val="002060"/>
              </a:solidFill>
              <a:latin typeface="한컴산뜻돋움" panose="02000000000000000000" pitchFamily="2" charset="-127"/>
              <a:ea typeface="한컴산뜻돋움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957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 t="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330DDC-8D80-4E4C-9879-82F998F33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3462E04-D483-82B5-265D-051782493B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b="1" dirty="0"/>
              <a:t>기대 효과</a:t>
            </a:r>
            <a:endParaRPr lang="en-US" altLang="ko-KR" b="1" dirty="0"/>
          </a:p>
          <a:p>
            <a:pPr lvl="1"/>
            <a:r>
              <a:rPr lang="ko-KR" altLang="en-US" b="1" dirty="0"/>
              <a:t>공정별 불량 검출 및 품질검사 효율 향상</a:t>
            </a:r>
            <a:endParaRPr lang="en-US" altLang="ko-KR" b="1" dirty="0"/>
          </a:p>
          <a:p>
            <a:pPr lvl="2"/>
            <a:r>
              <a:rPr lang="en-US" altLang="ko-KR" b="1" dirty="0"/>
              <a:t>ICCU </a:t>
            </a:r>
            <a:r>
              <a:rPr lang="ko-KR" altLang="en-US" b="1" dirty="0"/>
              <a:t>내부 기능 결함 및 자동차 부품 불량 조기 검출</a:t>
            </a:r>
            <a:endParaRPr lang="en-US" altLang="ko-KR" b="1" dirty="0"/>
          </a:p>
          <a:p>
            <a:pPr lvl="2"/>
            <a:r>
              <a:rPr lang="ko-KR" altLang="en-US" b="1" dirty="0">
                <a:solidFill>
                  <a:srgbClr val="0070C0"/>
                </a:solidFill>
              </a:rPr>
              <a:t>불량품의 </a:t>
            </a:r>
            <a:r>
              <a:rPr lang="ko-KR" altLang="en-US" b="1" dirty="0" err="1">
                <a:solidFill>
                  <a:srgbClr val="0070C0"/>
                </a:solidFill>
              </a:rPr>
              <a:t>후공정</a:t>
            </a:r>
            <a:r>
              <a:rPr lang="ko-KR" altLang="en-US" b="1" dirty="0">
                <a:solidFill>
                  <a:srgbClr val="0070C0"/>
                </a:solidFill>
              </a:rPr>
              <a:t> 유입 방지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2"/>
            <a:endParaRPr lang="en-US" altLang="ko-KR" b="1" dirty="0"/>
          </a:p>
          <a:p>
            <a:pPr lvl="1"/>
            <a:r>
              <a:rPr lang="ko-KR" altLang="en-US" b="1" dirty="0"/>
              <a:t>생산 공정 및 작업 효율 향상</a:t>
            </a:r>
            <a:endParaRPr lang="en-US" altLang="ko-KR" b="1" dirty="0"/>
          </a:p>
          <a:p>
            <a:pPr lvl="2"/>
            <a:r>
              <a:rPr lang="ko-KR" altLang="en-US" b="1" dirty="0"/>
              <a:t>자동화 검사로 인한 </a:t>
            </a:r>
            <a:r>
              <a:rPr lang="ko-KR" altLang="en-US" b="1" dirty="0">
                <a:solidFill>
                  <a:srgbClr val="0070C0"/>
                </a:solidFill>
              </a:rPr>
              <a:t>제품 당 검사 시간 단축 </a:t>
            </a:r>
            <a:r>
              <a:rPr lang="ko-KR" altLang="en-US" b="1" dirty="0"/>
              <a:t>및 </a:t>
            </a:r>
            <a:r>
              <a:rPr lang="ko-KR" altLang="en-US" b="1" dirty="0">
                <a:solidFill>
                  <a:srgbClr val="0070C0"/>
                </a:solidFill>
              </a:rPr>
              <a:t>반복 작업 최소화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2"/>
            <a:r>
              <a:rPr lang="ko-KR" altLang="en-US" b="1" dirty="0"/>
              <a:t>공정별 검사 데이터를 수집하여 불량 발생 원인 파악 및 공정 개선</a:t>
            </a:r>
            <a:endParaRPr lang="en-US" altLang="ko-KR" b="1" dirty="0"/>
          </a:p>
          <a:p>
            <a:pPr lvl="2"/>
            <a:endParaRPr lang="en-US" altLang="ko-KR" b="1" dirty="0"/>
          </a:p>
          <a:p>
            <a:pPr lvl="1"/>
            <a:r>
              <a:rPr lang="ko-KR" altLang="en-US" b="1" dirty="0"/>
              <a:t>설비 운영 및 유지보수 효율 향상</a:t>
            </a:r>
            <a:endParaRPr lang="en-US" altLang="ko-KR" b="1" dirty="0"/>
          </a:p>
          <a:p>
            <a:pPr lvl="2"/>
            <a:r>
              <a:rPr lang="ko-KR" altLang="en-US" b="1" dirty="0"/>
              <a:t>설비 동작 상태</a:t>
            </a:r>
            <a:r>
              <a:rPr lang="en-US" altLang="ko-KR" b="1" dirty="0"/>
              <a:t> </a:t>
            </a:r>
            <a:r>
              <a:rPr lang="ko-KR" altLang="en-US" b="1" dirty="0"/>
              <a:t>및</a:t>
            </a:r>
            <a:r>
              <a:rPr lang="en-US" altLang="ko-KR" b="1" dirty="0"/>
              <a:t> </a:t>
            </a:r>
            <a:r>
              <a:rPr lang="ko-KR" altLang="en-US" b="1" dirty="0"/>
              <a:t>이상 신호를 모니터링하여 </a:t>
            </a:r>
            <a:r>
              <a:rPr lang="ko-KR" altLang="en-US" b="1" dirty="0">
                <a:solidFill>
                  <a:srgbClr val="0070C0"/>
                </a:solidFill>
              </a:rPr>
              <a:t>이상 발생 시 신속히 대응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2"/>
            <a:r>
              <a:rPr lang="ko-KR" altLang="en-US" b="1" dirty="0"/>
              <a:t>설비 고장으로 인한 생산 중단 최소화 및 유지보수 비용 절감</a:t>
            </a:r>
            <a:endParaRPr lang="en-US" altLang="ko-KR" b="1" dirty="0"/>
          </a:p>
          <a:p>
            <a:pPr lvl="2"/>
            <a:endParaRPr lang="en-US" altLang="ko-KR" b="1" dirty="0"/>
          </a:p>
          <a:p>
            <a:pPr lvl="1"/>
            <a:r>
              <a:rPr lang="ko-KR" altLang="en-US" b="1" dirty="0"/>
              <a:t>작업 편의성 및 안정성 개선</a:t>
            </a:r>
            <a:endParaRPr lang="en-US" altLang="ko-KR" b="1" dirty="0"/>
          </a:p>
          <a:p>
            <a:pPr lvl="2"/>
            <a:r>
              <a:rPr lang="ko-KR" altLang="en-US" b="1" dirty="0">
                <a:solidFill>
                  <a:srgbClr val="0070C0"/>
                </a:solidFill>
              </a:rPr>
              <a:t>검사 및 조립 </a:t>
            </a:r>
            <a:r>
              <a:rPr lang="ko-KR" altLang="en-US" b="1" dirty="0" err="1">
                <a:solidFill>
                  <a:srgbClr val="0070C0"/>
                </a:solidFill>
              </a:rPr>
              <a:t>불확도</a:t>
            </a:r>
            <a:r>
              <a:rPr lang="ko-KR" altLang="en-US" b="1" dirty="0">
                <a:solidFill>
                  <a:srgbClr val="0070C0"/>
                </a:solidFill>
              </a:rPr>
              <a:t> 감소</a:t>
            </a:r>
            <a:r>
              <a:rPr lang="ko-KR" altLang="en-US" b="1" dirty="0"/>
              <a:t>로 안정적인 생산 환경 구축</a:t>
            </a:r>
            <a:endParaRPr lang="en-US" altLang="ko-KR" b="1" dirty="0"/>
          </a:p>
          <a:p>
            <a:pPr marL="365400" lvl="1" indent="0">
              <a:buNone/>
            </a:pPr>
            <a:endParaRPr lang="en-US" altLang="ko-KR" b="1" dirty="0"/>
          </a:p>
          <a:p>
            <a:pPr lvl="2"/>
            <a:endParaRPr lang="en-US" altLang="ko-KR" b="1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4E1E5A4-B962-D9CC-F5E0-A9CF0AA16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기대 효과 및 향후 계획</a:t>
            </a:r>
          </a:p>
        </p:txBody>
      </p:sp>
    </p:spTree>
    <p:extLst>
      <p:ext uri="{BB962C8B-B14F-4D97-AF65-F5344CB8AC3E}">
        <p14:creationId xmlns:p14="http://schemas.microsoft.com/office/powerpoint/2010/main" val="3999494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 t="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2EEA14-C123-15B8-788C-46A41770B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E82FFF2-414A-D985-A84E-7F5AFBCCBA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65400" lvl="1" indent="0">
              <a:buNone/>
            </a:pPr>
            <a:endParaRPr lang="en-US" altLang="ko-KR" b="1" dirty="0"/>
          </a:p>
          <a:p>
            <a:pPr lvl="2"/>
            <a:endParaRPr lang="en-US" altLang="ko-KR" b="1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4F1BE25-374F-7A20-6B3D-E89AC6EB4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Gantt</a:t>
            </a:r>
            <a:r>
              <a:rPr lang="ko-KR" altLang="en-US" dirty="0"/>
              <a:t> </a:t>
            </a:r>
            <a:r>
              <a:rPr lang="en-US" altLang="ko-KR" dirty="0"/>
              <a:t>Chart</a:t>
            </a:r>
            <a:r>
              <a:rPr lang="ko-KR" altLang="en-US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6B6F8C-5A21-CC37-1B9F-5EE2D6C43D94}"/>
              </a:ext>
            </a:extLst>
          </p:cNvPr>
          <p:cNvSpPr txBox="1"/>
          <p:nvPr/>
        </p:nvSpPr>
        <p:spPr>
          <a:xfrm>
            <a:off x="5274451" y="5969052"/>
            <a:ext cx="15904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n w="9525">
                  <a:solidFill>
                    <a:schemeClr val="tx1"/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latin typeface="대한민국정부상징체 R" panose="02020503020101020101" pitchFamily="18" charset="-127"/>
                <a:ea typeface="대한민국정부상징체 R" panose="02020503020101020101" pitchFamily="18" charset="-127"/>
                <a:cs typeface="Tahoma" panose="020B0604030504040204" pitchFamily="34" charset="0"/>
              </a:rPr>
              <a:t>▲ </a:t>
            </a:r>
            <a:r>
              <a:rPr lang="ko-KR" altLang="en-US" sz="1000" dirty="0"/>
              <a:t>프로젝트 추진 일정표</a:t>
            </a:r>
            <a:endParaRPr lang="ko-KR" altLang="en-US" sz="1000" baseline="30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9AB4A8D-6DCE-33EC-D356-44D4FD9C75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902" y="687599"/>
            <a:ext cx="11811583" cy="528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888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6F255E-CBE8-B152-9800-6EF2E4FA1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824F8DA-83DC-397F-D679-7F10385367D4}"/>
              </a:ext>
            </a:extLst>
          </p:cNvPr>
          <p:cNvSpPr txBox="1"/>
          <p:nvPr/>
        </p:nvSpPr>
        <p:spPr>
          <a:xfrm>
            <a:off x="1" y="2767280"/>
            <a:ext cx="121919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4000" b="1" dirty="0">
                <a:ln>
                  <a:solidFill>
                    <a:schemeClr val="tx1"/>
                  </a:solidFill>
                </a:ln>
                <a:solidFill>
                  <a:srgbClr val="002060"/>
                </a:solidFill>
                <a:latin typeface="한컴산뜻돋움" panose="02000000000000000000" pitchFamily="2" charset="-127"/>
                <a:ea typeface="한컴산뜻돋움" panose="02000000000000000000" pitchFamily="2" charset="-127"/>
                <a:cs typeface="Tahoma" panose="020B0604030504040204" pitchFamily="34" charset="0"/>
              </a:rPr>
              <a:t>Thank you for your attention</a:t>
            </a:r>
            <a:endParaRPr lang="ko-KR" altLang="en-US" sz="4000" b="1" dirty="0">
              <a:ln>
                <a:solidFill>
                  <a:schemeClr val="tx1"/>
                </a:solidFill>
              </a:ln>
              <a:solidFill>
                <a:srgbClr val="002060"/>
              </a:solidFill>
              <a:latin typeface="한컴산뜻돋움" panose="02000000000000000000" pitchFamily="2" charset="-127"/>
              <a:ea typeface="한컴산뜻돋움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91110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772</TotalTime>
  <Words>1975</Words>
  <Application>Microsoft Office PowerPoint</Application>
  <PresentationFormat>와이드스크린</PresentationFormat>
  <Paragraphs>192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대한민국정부상징체 R</vt:lpstr>
      <vt:lpstr>맑은 고딕</vt:lpstr>
      <vt:lpstr>한컴산뜻돋움</vt:lpstr>
      <vt:lpstr>Arial</vt:lpstr>
      <vt:lpstr>Tahoma</vt:lpstr>
      <vt:lpstr>Wingdings</vt:lpstr>
      <vt:lpstr>Office 테마</vt:lpstr>
      <vt:lpstr>PowerPoint 프레젠테이션</vt:lpstr>
      <vt:lpstr>목차</vt:lpstr>
      <vt:lpstr>PowerPoint 프레젠테이션</vt:lpstr>
      <vt:lpstr>시장성 분석</vt:lpstr>
      <vt:lpstr>시장성 분석</vt:lpstr>
      <vt:lpstr>시장성 분석</vt:lpstr>
      <vt:lpstr>PowerPoint 프레젠테이션</vt:lpstr>
      <vt:lpstr>공정 흐름도</vt:lpstr>
      <vt:lpstr>주요 공정 </vt:lpstr>
      <vt:lpstr>주요 공정 </vt:lpstr>
      <vt:lpstr>PowerPoint 프레젠테이션</vt:lpstr>
      <vt:lpstr>기대 효과 및 향후 계획</vt:lpstr>
      <vt:lpstr>Gantt Chart 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</dc:creator>
  <cp:lastModifiedBy>EZEN</cp:lastModifiedBy>
  <cp:revision>47</cp:revision>
  <dcterms:created xsi:type="dcterms:W3CDTF">2026-10-19T01:25:35Z</dcterms:created>
  <dcterms:modified xsi:type="dcterms:W3CDTF">2026-10-20T02:43:37Z</dcterms:modified>
</cp:coreProperties>
</file>